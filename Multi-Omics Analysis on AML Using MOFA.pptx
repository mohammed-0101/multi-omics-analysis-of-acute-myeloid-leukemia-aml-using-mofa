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80" r:id="rId5"/>
    <p:sldId id="312" r:id="rId6"/>
    <p:sldId id="278" r:id="rId7"/>
    <p:sldId id="259" r:id="rId8"/>
    <p:sldId id="313" r:id="rId9"/>
    <p:sldId id="281" r:id="rId10"/>
    <p:sldId id="314" r:id="rId11"/>
    <p:sldId id="261" r:id="rId12"/>
    <p:sldId id="282" r:id="rId13"/>
    <p:sldId id="283" r:id="rId14"/>
    <p:sldId id="285" r:id="rId15"/>
    <p:sldId id="286" r:id="rId16"/>
    <p:sldId id="311" r:id="rId17"/>
    <p:sldId id="287" r:id="rId18"/>
    <p:sldId id="288" r:id="rId19"/>
    <p:sldId id="298" r:id="rId20"/>
    <p:sldId id="299" r:id="rId21"/>
    <p:sldId id="289" r:id="rId22"/>
    <p:sldId id="290" r:id="rId23"/>
    <p:sldId id="291" r:id="rId24"/>
    <p:sldId id="307" r:id="rId25"/>
    <p:sldId id="308" r:id="rId26"/>
    <p:sldId id="302" r:id="rId27"/>
    <p:sldId id="309" r:id="rId28"/>
    <p:sldId id="310" r:id="rId29"/>
    <p:sldId id="306" r:id="rId30"/>
    <p:sldId id="267" r:id="rId31"/>
    <p:sldId id="272" r:id="rId32"/>
  </p:sldIdLst>
  <p:sldSz cx="18288000" cy="10287000"/>
  <p:notesSz cx="6858000" cy="9144000"/>
  <p:embeddedFontLst>
    <p:embeddedFont>
      <p:font typeface="Agrandir" panose="020B0604020202020204" charset="0"/>
      <p:regular r:id="rId33"/>
    </p:embeddedFont>
    <p:embeddedFont>
      <p:font typeface="Agrandir Bold" panose="020B0604020202020204" charset="0"/>
      <p:regular r:id="rId34"/>
    </p:embeddedFont>
    <p:embeddedFont>
      <p:font typeface="Alatsi"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BF7"/>
    <a:srgbClr val="F3F2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58" autoAdjust="0"/>
    <p:restoredTop sz="96062" autoAdjust="0"/>
  </p:normalViewPr>
  <p:slideViewPr>
    <p:cSldViewPr>
      <p:cViewPr>
        <p:scale>
          <a:sx n="50" d="100"/>
          <a:sy n="50" d="100"/>
        </p:scale>
        <p:origin x="1008" y="60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6.svg"/><Relationship Id="rId7" Type="http://schemas.openxmlformats.org/officeDocument/2006/relationships/slide" Target="slide30.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slide" Target="slide13.xml"/><Relationship Id="rId5" Type="http://schemas.openxmlformats.org/officeDocument/2006/relationships/slide" Target="slide7.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4.svg"/><Relationship Id="rId7"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svg"/><Relationship Id="rId7"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2.sv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sv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sv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sv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4.sv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4.sv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4.sv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14.sv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4.sv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14.sv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svg"/><Relationship Id="rId7" Type="http://schemas.openxmlformats.org/officeDocument/2006/relationships/image" Target="../media/image3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32.svg"/></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71B302E-3464-E78E-9D4C-21A79CDC9A6E}"/>
              </a:ext>
            </a:extLst>
          </p:cNvPr>
          <p:cNvGrpSpPr/>
          <p:nvPr/>
        </p:nvGrpSpPr>
        <p:grpSpPr>
          <a:xfrm>
            <a:off x="-3733800" y="-3695700"/>
            <a:ext cx="26170186" cy="16383000"/>
            <a:chOff x="-3767386" y="-3543300"/>
            <a:chExt cx="26170186" cy="16383000"/>
          </a:xfrm>
        </p:grpSpPr>
        <p:sp>
          <p:nvSpPr>
            <p:cNvPr id="5" name="Freeform 6">
              <a:extLst>
                <a:ext uri="{FF2B5EF4-FFF2-40B4-BE49-F238E27FC236}">
                  <a16:creationId xmlns:a16="http://schemas.microsoft.com/office/drawing/2014/main" id="{661B030D-2206-D612-E364-B801A4A02633}"/>
                </a:ext>
              </a:extLst>
            </p:cNvPr>
            <p:cNvSpPr/>
            <p:nvPr/>
          </p:nvSpPr>
          <p:spPr>
            <a:xfrm>
              <a:off x="-3767386" y="5981700"/>
              <a:ext cx="7687172" cy="6858000"/>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02F21D2A-FBD2-29FC-FF63-C497CA4E695A}"/>
                </a:ext>
              </a:extLst>
            </p:cNvPr>
            <p:cNvSpPr/>
            <p:nvPr/>
          </p:nvSpPr>
          <p:spPr>
            <a:xfrm>
              <a:off x="8610600" y="-3543300"/>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4" name="TextBox 4"/>
          <p:cNvSpPr txBox="1"/>
          <p:nvPr/>
        </p:nvSpPr>
        <p:spPr>
          <a:xfrm>
            <a:off x="3000870" y="2488927"/>
            <a:ext cx="12286259" cy="5309146"/>
          </a:xfrm>
          <a:prstGeom prst="rect">
            <a:avLst/>
          </a:prstGeom>
        </p:spPr>
        <p:txBody>
          <a:bodyPr lIns="0" tIns="0" rIns="0" bIns="0" rtlCol="0" anchor="t">
            <a:spAutoFit/>
          </a:bodyPr>
          <a:lstStyle/>
          <a:p>
            <a:pPr algn="ctr">
              <a:lnSpc>
                <a:spcPts val="13750"/>
              </a:lnSpc>
            </a:pPr>
            <a:r>
              <a:rPr lang="en-US" sz="12500" dirty="0">
                <a:solidFill>
                  <a:srgbClr val="000000"/>
                </a:solidFill>
                <a:latin typeface="Alatsi"/>
              </a:rPr>
              <a:t>Multi-Omics Analysis on AML Using MOFA</a:t>
            </a:r>
            <a:endParaRPr lang="en-US" sz="12500" dirty="0">
              <a:solidFill>
                <a:srgbClr val="2B2B2B"/>
              </a:solidFill>
              <a:latin typeface="Agrandir"/>
            </a:endParaRPr>
          </a:p>
        </p:txBody>
      </p:sp>
      <p:sp>
        <p:nvSpPr>
          <p:cNvPr id="8" name="TextBox 5">
            <a:extLst>
              <a:ext uri="{FF2B5EF4-FFF2-40B4-BE49-F238E27FC236}">
                <a16:creationId xmlns:a16="http://schemas.microsoft.com/office/drawing/2014/main" id="{CFD06ADB-92B2-8D02-1947-AEA9EDEC04AE}"/>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E4E3"/>
        </a:solidFill>
        <a:effectLst/>
      </p:bgPr>
    </p:bg>
    <p:spTree>
      <p:nvGrpSpPr>
        <p:cNvPr id="1" name=""/>
        <p:cNvGrpSpPr/>
        <p:nvPr/>
      </p:nvGrpSpPr>
      <p:grpSpPr>
        <a:xfrm>
          <a:off x="0" y="0"/>
          <a:ext cx="0" cy="0"/>
          <a:chOff x="0" y="0"/>
          <a:chExt cx="0" cy="0"/>
        </a:xfrm>
      </p:grpSpPr>
      <p:sp>
        <p:nvSpPr>
          <p:cNvPr id="10" name="TextBox 10"/>
          <p:cNvSpPr txBox="1"/>
          <p:nvPr/>
        </p:nvSpPr>
        <p:spPr>
          <a:xfrm>
            <a:off x="1118960" y="634584"/>
            <a:ext cx="6780460" cy="1200150"/>
          </a:xfrm>
          <a:prstGeom prst="rect">
            <a:avLst/>
          </a:prstGeom>
        </p:spPr>
        <p:txBody>
          <a:bodyPr lIns="0" tIns="0" rIns="0" bIns="0" rtlCol="0" anchor="t">
            <a:spAutoFit/>
          </a:bodyPr>
          <a:lstStyle/>
          <a:p>
            <a:pPr marL="0" lvl="0" indent="0" algn="l">
              <a:lnSpc>
                <a:spcPts val="8399"/>
              </a:lnSpc>
              <a:spcBef>
                <a:spcPct val="0"/>
              </a:spcBef>
            </a:pPr>
            <a:r>
              <a:rPr lang="en-US" sz="6999" u="none" dirty="0">
                <a:solidFill>
                  <a:srgbClr val="2B2B2B"/>
                </a:solidFill>
                <a:latin typeface="Agrandir"/>
              </a:rPr>
              <a:t>Agenda</a:t>
            </a:r>
          </a:p>
        </p:txBody>
      </p:sp>
      <p:grpSp>
        <p:nvGrpSpPr>
          <p:cNvPr id="12" name="Group 12"/>
          <p:cNvGrpSpPr/>
          <p:nvPr/>
        </p:nvGrpSpPr>
        <p:grpSpPr>
          <a:xfrm>
            <a:off x="533400" y="2171700"/>
            <a:ext cx="7924800" cy="868440"/>
            <a:chOff x="0" y="0"/>
            <a:chExt cx="9209527" cy="1157920"/>
          </a:xfrm>
        </p:grpSpPr>
        <p:sp>
          <p:nvSpPr>
            <p:cNvPr id="13" name="Freeform 13"/>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4" action="ppaction://hlinksldjump"/>
                </a:rPr>
                <a:t>Introduction</a:t>
              </a:r>
            </a:p>
          </p:txBody>
        </p:sp>
        <p:sp>
          <p:nvSpPr>
            <p:cNvPr id="15" name="TextBox 15"/>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1</a:t>
              </a:r>
            </a:p>
          </p:txBody>
        </p:sp>
      </p:grpSp>
      <p:grpSp>
        <p:nvGrpSpPr>
          <p:cNvPr id="16" name="Group 16"/>
          <p:cNvGrpSpPr/>
          <p:nvPr/>
        </p:nvGrpSpPr>
        <p:grpSpPr>
          <a:xfrm>
            <a:off x="533400" y="3460381"/>
            <a:ext cx="7924800" cy="868440"/>
            <a:chOff x="0" y="0"/>
            <a:chExt cx="9209527" cy="1157920"/>
          </a:xfrm>
        </p:grpSpPr>
        <p:sp>
          <p:nvSpPr>
            <p:cNvPr id="17" name="TextBox 17"/>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5" action="ppaction://hlinksldjump"/>
                </a:rPr>
                <a:t>Purpose of multi-omics</a:t>
              </a:r>
              <a:endParaRPr lang="en-US" sz="3200" dirty="0">
                <a:solidFill>
                  <a:srgbClr val="2B2B2B"/>
                </a:solidFill>
                <a:latin typeface="Agrandir"/>
                <a:hlinkClick r:id="rId6" action="ppaction://hlinksldjump"/>
              </a:endParaRPr>
            </a:p>
          </p:txBody>
        </p:sp>
        <p:sp>
          <p:nvSpPr>
            <p:cNvPr id="18" name="Freeform 18"/>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TextBox 19"/>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2</a:t>
              </a:r>
            </a:p>
          </p:txBody>
        </p:sp>
      </p:grpSp>
      <p:grpSp>
        <p:nvGrpSpPr>
          <p:cNvPr id="20" name="Group 20"/>
          <p:cNvGrpSpPr/>
          <p:nvPr/>
        </p:nvGrpSpPr>
        <p:grpSpPr>
          <a:xfrm>
            <a:off x="533400" y="4749061"/>
            <a:ext cx="7924800" cy="1187587"/>
            <a:chOff x="0" y="0"/>
            <a:chExt cx="9209527" cy="1583449"/>
          </a:xfrm>
        </p:grpSpPr>
        <p:sp>
          <p:nvSpPr>
            <p:cNvPr id="21" name="TextBox 21"/>
            <p:cNvSpPr txBox="1"/>
            <p:nvPr/>
          </p:nvSpPr>
          <p:spPr>
            <a:xfrm>
              <a:off x="1634311" y="147159"/>
              <a:ext cx="7575216" cy="1436290"/>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7" action="ppaction://hlinksldjump"/>
                </a:rPr>
                <a:t>Types of integration methods</a:t>
              </a:r>
            </a:p>
          </p:txBody>
        </p:sp>
        <p:sp>
          <p:nvSpPr>
            <p:cNvPr id="22" name="Freeform 22"/>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TextBox 23"/>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3</a:t>
              </a:r>
            </a:p>
          </p:txBody>
        </p:sp>
      </p:grpSp>
      <p:grpSp>
        <p:nvGrpSpPr>
          <p:cNvPr id="24" name="Group 24"/>
          <p:cNvGrpSpPr/>
          <p:nvPr/>
        </p:nvGrpSpPr>
        <p:grpSpPr>
          <a:xfrm>
            <a:off x="533400" y="6037742"/>
            <a:ext cx="7924800" cy="868440"/>
            <a:chOff x="0" y="0"/>
            <a:chExt cx="9209527" cy="1157920"/>
          </a:xfrm>
        </p:grpSpPr>
        <p:sp>
          <p:nvSpPr>
            <p:cNvPr id="25" name="TextBox 25"/>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8" action="ppaction://hlinksldjump"/>
                </a:rPr>
                <a:t>Multi-Omics Factor Analysis</a:t>
              </a:r>
            </a:p>
          </p:txBody>
        </p:sp>
        <p:sp>
          <p:nvSpPr>
            <p:cNvPr id="26" name="Freeform 26"/>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7" name="TextBox 27"/>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4</a:t>
              </a:r>
            </a:p>
          </p:txBody>
        </p:sp>
      </p:grpSp>
      <p:grpSp>
        <p:nvGrpSpPr>
          <p:cNvPr id="28" name="Group 12">
            <a:extLst>
              <a:ext uri="{FF2B5EF4-FFF2-40B4-BE49-F238E27FC236}">
                <a16:creationId xmlns:a16="http://schemas.microsoft.com/office/drawing/2014/main" id="{619A811D-B80D-F072-98DA-7B33015200DC}"/>
              </a:ext>
            </a:extLst>
          </p:cNvPr>
          <p:cNvGrpSpPr/>
          <p:nvPr/>
        </p:nvGrpSpPr>
        <p:grpSpPr>
          <a:xfrm>
            <a:off x="9601200" y="2171700"/>
            <a:ext cx="7924800" cy="868440"/>
            <a:chOff x="0" y="0"/>
            <a:chExt cx="9209527" cy="1157920"/>
          </a:xfrm>
        </p:grpSpPr>
        <p:sp>
          <p:nvSpPr>
            <p:cNvPr id="29" name="Freeform 13">
              <a:extLst>
                <a:ext uri="{FF2B5EF4-FFF2-40B4-BE49-F238E27FC236}">
                  <a16:creationId xmlns:a16="http://schemas.microsoft.com/office/drawing/2014/main" id="{50DD623D-A307-17C3-1573-42C9101CF250}"/>
                </a:ext>
              </a:extLst>
            </p:cNvPr>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0" name="TextBox 14">
              <a:extLst>
                <a:ext uri="{FF2B5EF4-FFF2-40B4-BE49-F238E27FC236}">
                  <a16:creationId xmlns:a16="http://schemas.microsoft.com/office/drawing/2014/main" id="{1A8FD87A-2C8A-5E5C-93A2-FC620225FEDD}"/>
                </a:ext>
              </a:extLst>
            </p:cNvPr>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4" action="ppaction://hlinksldjump"/>
                </a:rPr>
                <a:t>Applying MOFA on AML</a:t>
              </a:r>
            </a:p>
          </p:txBody>
        </p:sp>
        <p:sp>
          <p:nvSpPr>
            <p:cNvPr id="31" name="TextBox 15">
              <a:extLst>
                <a:ext uri="{FF2B5EF4-FFF2-40B4-BE49-F238E27FC236}">
                  <a16:creationId xmlns:a16="http://schemas.microsoft.com/office/drawing/2014/main" id="{1B8884E5-D549-9481-B0E7-18A555EE66CA}"/>
                </a:ext>
              </a:extLst>
            </p:cNvPr>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7</a:t>
              </a:r>
            </a:p>
          </p:txBody>
        </p:sp>
      </p:grpSp>
      <p:grpSp>
        <p:nvGrpSpPr>
          <p:cNvPr id="32" name="Group 16">
            <a:extLst>
              <a:ext uri="{FF2B5EF4-FFF2-40B4-BE49-F238E27FC236}">
                <a16:creationId xmlns:a16="http://schemas.microsoft.com/office/drawing/2014/main" id="{EC6CEE12-CFBF-2767-E054-D0E86721D404}"/>
              </a:ext>
            </a:extLst>
          </p:cNvPr>
          <p:cNvGrpSpPr/>
          <p:nvPr/>
        </p:nvGrpSpPr>
        <p:grpSpPr>
          <a:xfrm>
            <a:off x="9601200" y="3460381"/>
            <a:ext cx="7924800" cy="1187588"/>
            <a:chOff x="0" y="0"/>
            <a:chExt cx="9209527" cy="1583450"/>
          </a:xfrm>
        </p:grpSpPr>
        <p:sp>
          <p:nvSpPr>
            <p:cNvPr id="33" name="TextBox 17">
              <a:extLst>
                <a:ext uri="{FF2B5EF4-FFF2-40B4-BE49-F238E27FC236}">
                  <a16:creationId xmlns:a16="http://schemas.microsoft.com/office/drawing/2014/main" id="{DE7D783E-846E-CE4C-7396-F6AC2E0CC48C}"/>
                </a:ext>
              </a:extLst>
            </p:cNvPr>
            <p:cNvSpPr txBox="1"/>
            <p:nvPr/>
          </p:nvSpPr>
          <p:spPr>
            <a:xfrm>
              <a:off x="1634311" y="147159"/>
              <a:ext cx="7575216" cy="1436291"/>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6" action="ppaction://hlinksldjump"/>
                </a:rPr>
                <a:t>Visualization of features weights</a:t>
              </a:r>
            </a:p>
          </p:txBody>
        </p:sp>
        <p:sp>
          <p:nvSpPr>
            <p:cNvPr id="34" name="Freeform 18">
              <a:extLst>
                <a:ext uri="{FF2B5EF4-FFF2-40B4-BE49-F238E27FC236}">
                  <a16:creationId xmlns:a16="http://schemas.microsoft.com/office/drawing/2014/main" id="{5FB4D13D-6CE1-3FEC-3144-C94479BE007C}"/>
                </a:ext>
              </a:extLst>
            </p:cNvPr>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5" name="TextBox 19">
              <a:extLst>
                <a:ext uri="{FF2B5EF4-FFF2-40B4-BE49-F238E27FC236}">
                  <a16:creationId xmlns:a16="http://schemas.microsoft.com/office/drawing/2014/main" id="{97991702-8D6C-1A6A-41CF-E7246E208D99}"/>
                </a:ext>
              </a:extLst>
            </p:cNvPr>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8</a:t>
              </a:r>
            </a:p>
          </p:txBody>
        </p:sp>
      </p:grpSp>
      <p:grpSp>
        <p:nvGrpSpPr>
          <p:cNvPr id="36" name="Group 20">
            <a:extLst>
              <a:ext uri="{FF2B5EF4-FFF2-40B4-BE49-F238E27FC236}">
                <a16:creationId xmlns:a16="http://schemas.microsoft.com/office/drawing/2014/main" id="{0D6386D9-B920-B4C6-F16B-45ED86847078}"/>
              </a:ext>
            </a:extLst>
          </p:cNvPr>
          <p:cNvGrpSpPr/>
          <p:nvPr/>
        </p:nvGrpSpPr>
        <p:grpSpPr>
          <a:xfrm>
            <a:off x="9601200" y="4749061"/>
            <a:ext cx="7924800" cy="868440"/>
            <a:chOff x="0" y="0"/>
            <a:chExt cx="9209527" cy="1157920"/>
          </a:xfrm>
        </p:grpSpPr>
        <p:sp>
          <p:nvSpPr>
            <p:cNvPr id="37" name="TextBox 21">
              <a:extLst>
                <a:ext uri="{FF2B5EF4-FFF2-40B4-BE49-F238E27FC236}">
                  <a16:creationId xmlns:a16="http://schemas.microsoft.com/office/drawing/2014/main" id="{E2130905-785F-9C4A-2511-92A755F61A68}"/>
                </a:ext>
              </a:extLst>
            </p:cNvPr>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7" action="ppaction://hlinksldjump"/>
                </a:rPr>
                <a:t>Knowing our variances</a:t>
              </a:r>
            </a:p>
          </p:txBody>
        </p:sp>
        <p:sp>
          <p:nvSpPr>
            <p:cNvPr id="38" name="Freeform 22">
              <a:extLst>
                <a:ext uri="{FF2B5EF4-FFF2-40B4-BE49-F238E27FC236}">
                  <a16:creationId xmlns:a16="http://schemas.microsoft.com/office/drawing/2014/main" id="{497B9A4F-82FC-0FA7-D5E6-5A396929A8BF}"/>
                </a:ext>
              </a:extLst>
            </p:cNvPr>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9" name="TextBox 23">
              <a:extLst>
                <a:ext uri="{FF2B5EF4-FFF2-40B4-BE49-F238E27FC236}">
                  <a16:creationId xmlns:a16="http://schemas.microsoft.com/office/drawing/2014/main" id="{C7A561C5-5ADA-7651-699D-1EDDA37B554E}"/>
                </a:ext>
              </a:extLst>
            </p:cNvPr>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9</a:t>
              </a:r>
            </a:p>
          </p:txBody>
        </p:sp>
      </p:grpSp>
      <p:grpSp>
        <p:nvGrpSpPr>
          <p:cNvPr id="40" name="Group 24">
            <a:extLst>
              <a:ext uri="{FF2B5EF4-FFF2-40B4-BE49-F238E27FC236}">
                <a16:creationId xmlns:a16="http://schemas.microsoft.com/office/drawing/2014/main" id="{2B710D3D-C6BE-54C8-12B9-BDAD11B7B0B4}"/>
              </a:ext>
            </a:extLst>
          </p:cNvPr>
          <p:cNvGrpSpPr/>
          <p:nvPr/>
        </p:nvGrpSpPr>
        <p:grpSpPr>
          <a:xfrm>
            <a:off x="9601200" y="6037742"/>
            <a:ext cx="7924800" cy="868440"/>
            <a:chOff x="0" y="0"/>
            <a:chExt cx="9209527" cy="1157920"/>
          </a:xfrm>
        </p:grpSpPr>
        <p:sp>
          <p:nvSpPr>
            <p:cNvPr id="41" name="TextBox 25">
              <a:extLst>
                <a:ext uri="{FF2B5EF4-FFF2-40B4-BE49-F238E27FC236}">
                  <a16:creationId xmlns:a16="http://schemas.microsoft.com/office/drawing/2014/main" id="{835EF2CA-6462-E4F4-3908-F91B78C79BD4}"/>
                </a:ext>
              </a:extLst>
            </p:cNvPr>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8" action="ppaction://hlinksldjump"/>
                </a:rPr>
                <a:t>Some other visualizations</a:t>
              </a:r>
            </a:p>
          </p:txBody>
        </p:sp>
        <p:sp>
          <p:nvSpPr>
            <p:cNvPr id="42" name="Freeform 26">
              <a:extLst>
                <a:ext uri="{FF2B5EF4-FFF2-40B4-BE49-F238E27FC236}">
                  <a16:creationId xmlns:a16="http://schemas.microsoft.com/office/drawing/2014/main" id="{C11EEA42-9E93-1684-496E-6C6804EF85D6}"/>
                </a:ext>
              </a:extLst>
            </p:cNvPr>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27">
              <a:extLst>
                <a:ext uri="{FF2B5EF4-FFF2-40B4-BE49-F238E27FC236}">
                  <a16:creationId xmlns:a16="http://schemas.microsoft.com/office/drawing/2014/main" id="{EDD45E68-2711-16EF-DCBB-C26FA2FBC20B}"/>
                </a:ext>
              </a:extLst>
            </p:cNvPr>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10</a:t>
              </a:r>
            </a:p>
          </p:txBody>
        </p:sp>
      </p:grpSp>
      <p:grpSp>
        <p:nvGrpSpPr>
          <p:cNvPr id="44" name="Group 20">
            <a:extLst>
              <a:ext uri="{FF2B5EF4-FFF2-40B4-BE49-F238E27FC236}">
                <a16:creationId xmlns:a16="http://schemas.microsoft.com/office/drawing/2014/main" id="{44E2E615-A710-6556-D4C2-0CDE671F78F5}"/>
              </a:ext>
            </a:extLst>
          </p:cNvPr>
          <p:cNvGrpSpPr/>
          <p:nvPr/>
        </p:nvGrpSpPr>
        <p:grpSpPr>
          <a:xfrm>
            <a:off x="533400" y="7277100"/>
            <a:ext cx="7924800" cy="868440"/>
            <a:chOff x="0" y="0"/>
            <a:chExt cx="9209527" cy="1157920"/>
          </a:xfrm>
        </p:grpSpPr>
        <p:sp>
          <p:nvSpPr>
            <p:cNvPr id="45" name="TextBox 21">
              <a:extLst>
                <a:ext uri="{FF2B5EF4-FFF2-40B4-BE49-F238E27FC236}">
                  <a16:creationId xmlns:a16="http://schemas.microsoft.com/office/drawing/2014/main" id="{98011FEA-21B4-113C-34C9-42181FA36317}"/>
                </a:ext>
              </a:extLst>
            </p:cNvPr>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7" action="ppaction://hlinksldjump"/>
                </a:rPr>
                <a:t>Why we used MOFA </a:t>
              </a:r>
            </a:p>
          </p:txBody>
        </p:sp>
        <p:sp>
          <p:nvSpPr>
            <p:cNvPr id="46" name="Freeform 22">
              <a:extLst>
                <a:ext uri="{FF2B5EF4-FFF2-40B4-BE49-F238E27FC236}">
                  <a16:creationId xmlns:a16="http://schemas.microsoft.com/office/drawing/2014/main" id="{50D2FE21-0C5F-BBC1-7B19-D9FB6F99C084}"/>
                </a:ext>
              </a:extLst>
            </p:cNvPr>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23">
              <a:extLst>
                <a:ext uri="{FF2B5EF4-FFF2-40B4-BE49-F238E27FC236}">
                  <a16:creationId xmlns:a16="http://schemas.microsoft.com/office/drawing/2014/main" id="{AAFB6B50-EFA5-3DFD-5087-14E6E9CFC082}"/>
                </a:ext>
              </a:extLst>
            </p:cNvPr>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5</a:t>
              </a:r>
            </a:p>
          </p:txBody>
        </p:sp>
      </p:grpSp>
      <p:grpSp>
        <p:nvGrpSpPr>
          <p:cNvPr id="48" name="Group 24">
            <a:extLst>
              <a:ext uri="{FF2B5EF4-FFF2-40B4-BE49-F238E27FC236}">
                <a16:creationId xmlns:a16="http://schemas.microsoft.com/office/drawing/2014/main" id="{C5C7F84E-C446-9CAE-2810-73888B3067D9}"/>
              </a:ext>
            </a:extLst>
          </p:cNvPr>
          <p:cNvGrpSpPr/>
          <p:nvPr/>
        </p:nvGrpSpPr>
        <p:grpSpPr>
          <a:xfrm>
            <a:off x="533400" y="8565781"/>
            <a:ext cx="7924800" cy="868440"/>
            <a:chOff x="0" y="0"/>
            <a:chExt cx="9209527" cy="1157920"/>
          </a:xfrm>
        </p:grpSpPr>
        <p:sp>
          <p:nvSpPr>
            <p:cNvPr id="49" name="TextBox 25">
              <a:extLst>
                <a:ext uri="{FF2B5EF4-FFF2-40B4-BE49-F238E27FC236}">
                  <a16:creationId xmlns:a16="http://schemas.microsoft.com/office/drawing/2014/main" id="{9354D20B-99D2-7BF6-A598-3A9837C232C0}"/>
                </a:ext>
              </a:extLst>
            </p:cNvPr>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8" action="ppaction://hlinksldjump"/>
                </a:rPr>
                <a:t>Acute myeloid leukemia</a:t>
              </a:r>
            </a:p>
          </p:txBody>
        </p:sp>
        <p:sp>
          <p:nvSpPr>
            <p:cNvPr id="50" name="Freeform 26">
              <a:extLst>
                <a:ext uri="{FF2B5EF4-FFF2-40B4-BE49-F238E27FC236}">
                  <a16:creationId xmlns:a16="http://schemas.microsoft.com/office/drawing/2014/main" id="{B9878BF4-4897-2C9A-9544-4D0FCF289618}"/>
                </a:ext>
              </a:extLst>
            </p:cNvPr>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1" name="TextBox 27">
              <a:extLst>
                <a:ext uri="{FF2B5EF4-FFF2-40B4-BE49-F238E27FC236}">
                  <a16:creationId xmlns:a16="http://schemas.microsoft.com/office/drawing/2014/main" id="{E59C2AF3-E356-BAFD-2C7C-CE675079AF15}"/>
                </a:ext>
              </a:extLst>
            </p:cNvPr>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6</a:t>
              </a:r>
            </a:p>
          </p:txBody>
        </p:sp>
      </p:grpSp>
      <p:grpSp>
        <p:nvGrpSpPr>
          <p:cNvPr id="52" name="Group 20">
            <a:extLst>
              <a:ext uri="{FF2B5EF4-FFF2-40B4-BE49-F238E27FC236}">
                <a16:creationId xmlns:a16="http://schemas.microsoft.com/office/drawing/2014/main" id="{F8AA12E1-F213-4147-76A0-C4D9AC650CC3}"/>
              </a:ext>
            </a:extLst>
          </p:cNvPr>
          <p:cNvGrpSpPr/>
          <p:nvPr/>
        </p:nvGrpSpPr>
        <p:grpSpPr>
          <a:xfrm>
            <a:off x="9601200" y="7277100"/>
            <a:ext cx="7924800" cy="868440"/>
            <a:chOff x="0" y="0"/>
            <a:chExt cx="9209527" cy="1157920"/>
          </a:xfrm>
        </p:grpSpPr>
        <p:sp>
          <p:nvSpPr>
            <p:cNvPr id="53" name="TextBox 21">
              <a:extLst>
                <a:ext uri="{FF2B5EF4-FFF2-40B4-BE49-F238E27FC236}">
                  <a16:creationId xmlns:a16="http://schemas.microsoft.com/office/drawing/2014/main" id="{96B17453-C758-19F8-4D49-2A4897C0D63F}"/>
                </a:ext>
              </a:extLst>
            </p:cNvPr>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7" action="ppaction://hlinksldjump"/>
                </a:rPr>
                <a:t>Conclusion</a:t>
              </a:r>
            </a:p>
          </p:txBody>
        </p:sp>
        <p:sp>
          <p:nvSpPr>
            <p:cNvPr id="54" name="Freeform 22">
              <a:extLst>
                <a:ext uri="{FF2B5EF4-FFF2-40B4-BE49-F238E27FC236}">
                  <a16:creationId xmlns:a16="http://schemas.microsoft.com/office/drawing/2014/main" id="{3408B7F8-A10A-EEB4-3721-B06C50A452DA}"/>
                </a:ext>
              </a:extLst>
            </p:cNvPr>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5" name="TextBox 23">
              <a:extLst>
                <a:ext uri="{FF2B5EF4-FFF2-40B4-BE49-F238E27FC236}">
                  <a16:creationId xmlns:a16="http://schemas.microsoft.com/office/drawing/2014/main" id="{1B9B71D8-6482-AF14-3179-31854E34A7D7}"/>
                </a:ext>
              </a:extLst>
            </p:cNvPr>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11</a:t>
              </a:r>
            </a:p>
          </p:txBody>
        </p:sp>
      </p:grpSp>
      <p:grpSp>
        <p:nvGrpSpPr>
          <p:cNvPr id="56" name="Group 24">
            <a:extLst>
              <a:ext uri="{FF2B5EF4-FFF2-40B4-BE49-F238E27FC236}">
                <a16:creationId xmlns:a16="http://schemas.microsoft.com/office/drawing/2014/main" id="{FD27E8B1-4C75-D066-0438-0AD7DE196A96}"/>
              </a:ext>
            </a:extLst>
          </p:cNvPr>
          <p:cNvGrpSpPr/>
          <p:nvPr/>
        </p:nvGrpSpPr>
        <p:grpSpPr>
          <a:xfrm>
            <a:off x="9601200" y="8565781"/>
            <a:ext cx="7924800" cy="868440"/>
            <a:chOff x="0" y="0"/>
            <a:chExt cx="9209527" cy="1157920"/>
          </a:xfrm>
        </p:grpSpPr>
        <p:sp>
          <p:nvSpPr>
            <p:cNvPr id="57" name="TextBox 25">
              <a:extLst>
                <a:ext uri="{FF2B5EF4-FFF2-40B4-BE49-F238E27FC236}">
                  <a16:creationId xmlns:a16="http://schemas.microsoft.com/office/drawing/2014/main" id="{86779F02-903D-D099-3419-5C151CE68DA8}"/>
                </a:ext>
              </a:extLst>
            </p:cNvPr>
            <p:cNvSpPr txBox="1"/>
            <p:nvPr/>
          </p:nvSpPr>
          <p:spPr>
            <a:xfrm>
              <a:off x="1634311" y="147159"/>
              <a:ext cx="7575216" cy="685573"/>
            </a:xfrm>
            <a:prstGeom prst="rect">
              <a:avLst/>
            </a:prstGeom>
          </p:spPr>
          <p:txBody>
            <a:bodyPr lIns="0" tIns="0" rIns="0" bIns="0" rtlCol="0" anchor="t">
              <a:spAutoFit/>
            </a:bodyPr>
            <a:lstStyle/>
            <a:p>
              <a:pPr algn="l">
                <a:lnSpc>
                  <a:spcPts val="4199"/>
                </a:lnSpc>
              </a:pPr>
              <a:r>
                <a:rPr lang="en-US" sz="3200" dirty="0">
                  <a:solidFill>
                    <a:srgbClr val="2B2B2B"/>
                  </a:solidFill>
                  <a:latin typeface="Agrandir"/>
                  <a:hlinkClick r:id="rId8" action="ppaction://hlinksldjump"/>
                </a:rPr>
                <a:t>Future work</a:t>
              </a:r>
            </a:p>
          </p:txBody>
        </p:sp>
        <p:sp>
          <p:nvSpPr>
            <p:cNvPr id="58" name="Freeform 26">
              <a:extLst>
                <a:ext uri="{FF2B5EF4-FFF2-40B4-BE49-F238E27FC236}">
                  <a16:creationId xmlns:a16="http://schemas.microsoft.com/office/drawing/2014/main" id="{0D158A27-A0C1-1AEC-B0A6-38A2D5268397}"/>
                </a:ext>
              </a:extLst>
            </p:cNvPr>
            <p:cNvSpPr/>
            <p:nvPr/>
          </p:nvSpPr>
          <p:spPr>
            <a:xfrm>
              <a:off x="0" y="0"/>
              <a:ext cx="1124235" cy="1157920"/>
            </a:xfrm>
            <a:custGeom>
              <a:avLst/>
              <a:gdLst/>
              <a:ahLst/>
              <a:cxnLst/>
              <a:rect l="l" t="t" r="r" b="b"/>
              <a:pathLst>
                <a:path w="1124235" h="1157920">
                  <a:moveTo>
                    <a:pt x="0" y="0"/>
                  </a:moveTo>
                  <a:lnTo>
                    <a:pt x="1124235" y="0"/>
                  </a:lnTo>
                  <a:lnTo>
                    <a:pt x="1124235" y="1157920"/>
                  </a:lnTo>
                  <a:lnTo>
                    <a:pt x="0" y="11579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9" name="TextBox 27">
              <a:extLst>
                <a:ext uri="{FF2B5EF4-FFF2-40B4-BE49-F238E27FC236}">
                  <a16:creationId xmlns:a16="http://schemas.microsoft.com/office/drawing/2014/main" id="{4CD08FA2-CA99-B5D3-660F-30560471B32A}"/>
                </a:ext>
              </a:extLst>
            </p:cNvPr>
            <p:cNvSpPr txBox="1"/>
            <p:nvPr/>
          </p:nvSpPr>
          <p:spPr>
            <a:xfrm>
              <a:off x="351305" y="370892"/>
              <a:ext cx="421625" cy="341973"/>
            </a:xfrm>
            <a:prstGeom prst="rect">
              <a:avLst/>
            </a:prstGeom>
          </p:spPr>
          <p:txBody>
            <a:bodyPr lIns="0" tIns="0" rIns="0" bIns="0" rtlCol="0" anchor="t">
              <a:spAutoFit/>
            </a:bodyPr>
            <a:lstStyle/>
            <a:p>
              <a:pPr algn="ctr">
                <a:lnSpc>
                  <a:spcPts val="1960"/>
                </a:lnSpc>
              </a:pPr>
              <a:r>
                <a:rPr lang="en-US" dirty="0">
                  <a:solidFill>
                    <a:srgbClr val="2B2B2B"/>
                  </a:solidFill>
                  <a:latin typeface="Agrandir Bold"/>
                </a:rPr>
                <a:t>12</a:t>
              </a:r>
            </a:p>
          </p:txBody>
        </p:sp>
      </p:grpSp>
      <p:sp>
        <p:nvSpPr>
          <p:cNvPr id="60" name="TextBox 5">
            <a:extLst>
              <a:ext uri="{FF2B5EF4-FFF2-40B4-BE49-F238E27FC236}">
                <a16:creationId xmlns:a16="http://schemas.microsoft.com/office/drawing/2014/main" id="{87F2B01E-13E0-8485-2E30-3C4AF961E26E}"/>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0817D2BA-C8FF-A8FD-7225-545A24E6CA2C}"/>
              </a:ext>
            </a:extLst>
          </p:cNvPr>
          <p:cNvSpPr/>
          <p:nvPr/>
        </p:nvSpPr>
        <p:spPr>
          <a:xfrm>
            <a:off x="-1483188" y="5600700"/>
            <a:ext cx="9331788" cy="6858000"/>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3">
            <a:extLst>
              <a:ext uri="{FF2B5EF4-FFF2-40B4-BE49-F238E27FC236}">
                <a16:creationId xmlns:a16="http://schemas.microsoft.com/office/drawing/2014/main" id="{DEE16D51-DC9D-1044-FC6F-1017C2389471}"/>
              </a:ext>
            </a:extLst>
          </p:cNvPr>
          <p:cNvSpPr/>
          <p:nvPr/>
        </p:nvSpPr>
        <p:spPr>
          <a:xfrm>
            <a:off x="8644186" y="-3695700"/>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719385" y="924604"/>
            <a:ext cx="8229680" cy="7048213"/>
            <a:chOff x="-412420" y="-3666204"/>
            <a:chExt cx="10972905" cy="9397617"/>
          </a:xfrm>
        </p:grpSpPr>
        <p:sp>
          <p:nvSpPr>
            <p:cNvPr id="6" name="TextBox 6"/>
            <p:cNvSpPr txBox="1"/>
            <p:nvPr/>
          </p:nvSpPr>
          <p:spPr>
            <a:xfrm>
              <a:off x="-412420" y="-3666204"/>
              <a:ext cx="10306486" cy="1398673"/>
            </a:xfrm>
            <a:prstGeom prst="rect">
              <a:avLst/>
            </a:prstGeom>
          </p:spPr>
          <p:txBody>
            <a:bodyPr lIns="0" tIns="0" rIns="0" bIns="0" rtlCol="0" anchor="t">
              <a:spAutoFit/>
            </a:bodyPr>
            <a:lstStyle/>
            <a:p>
              <a:pPr marL="0" lvl="0" indent="0" algn="ctr">
                <a:lnSpc>
                  <a:spcPts val="8399"/>
                </a:lnSpc>
                <a:spcBef>
                  <a:spcPct val="0"/>
                </a:spcBef>
              </a:pPr>
              <a:r>
                <a:rPr lang="en-US" sz="6999" u="none" dirty="0">
                  <a:solidFill>
                    <a:srgbClr val="2B2B2B"/>
                  </a:solidFill>
                  <a:latin typeface="Agrandir"/>
                </a:rPr>
                <a:t>INTRODUCTION</a:t>
              </a:r>
            </a:p>
          </p:txBody>
        </p:sp>
        <p:sp>
          <p:nvSpPr>
            <p:cNvPr id="7" name="TextBox 7"/>
            <p:cNvSpPr txBox="1"/>
            <p:nvPr/>
          </p:nvSpPr>
          <p:spPr>
            <a:xfrm>
              <a:off x="253999" y="-1620771"/>
              <a:ext cx="10306486" cy="7352184"/>
            </a:xfrm>
            <a:prstGeom prst="rect">
              <a:avLst/>
            </a:prstGeom>
          </p:spPr>
          <p:txBody>
            <a:bodyPr lIns="0" tIns="0" rIns="0" bIns="0" rtlCol="0" anchor="t">
              <a:spAutoFit/>
            </a:bodyPr>
            <a:lstStyle/>
            <a:p>
              <a:pPr marL="0" lvl="0" indent="0" algn="ctr">
                <a:lnSpc>
                  <a:spcPts val="3640"/>
                </a:lnSpc>
              </a:pPr>
              <a:r>
                <a:rPr lang="en-US" sz="2600" u="none" dirty="0">
                  <a:solidFill>
                    <a:srgbClr val="2B2B2B"/>
                  </a:solidFill>
                  <a:latin typeface="Agrandir"/>
                </a:rPr>
                <a:t>Multi-omics combines data from multiple platforms for comprehensive and in-depth profiling of biological processes. A critical parameter for maximizing the applicability of multi-omics profiling is data integration, which encompasses bioinformatic tools, pipelines, and databases. Data integration of multi-omics strategies promotes the development of biomarkers, definition of disease phenotypes, characterization of virulence factors, and discovery of druggable targets among other potential outcome.</a:t>
              </a:r>
            </a:p>
          </p:txBody>
        </p:sp>
      </p:grpSp>
      <p:pic>
        <p:nvPicPr>
          <p:cNvPr id="9" name="Google Shape;61;p14">
            <a:extLst>
              <a:ext uri="{FF2B5EF4-FFF2-40B4-BE49-F238E27FC236}">
                <a16:creationId xmlns:a16="http://schemas.microsoft.com/office/drawing/2014/main" id="{3E875DA3-7644-9700-F5DD-EA7512EF49A0}"/>
              </a:ext>
            </a:extLst>
          </p:cNvPr>
          <p:cNvPicPr preferRelativeResize="0"/>
          <p:nvPr/>
        </p:nvPicPr>
        <p:blipFill rotWithShape="1">
          <a:blip r:embed="rId6">
            <a:alphaModFix/>
          </a:blip>
          <a:srcRect l="8572" t="1128" r="4446" b="3397"/>
          <a:stretch/>
        </p:blipFill>
        <p:spPr>
          <a:xfrm>
            <a:off x="9338936" y="1411222"/>
            <a:ext cx="8415663" cy="7313678"/>
          </a:xfrm>
          <a:prstGeom prst="rect">
            <a:avLst/>
          </a:prstGeom>
          <a:noFill/>
          <a:ln>
            <a:noFill/>
          </a:ln>
        </p:spPr>
      </p:pic>
      <p:sp>
        <p:nvSpPr>
          <p:cNvPr id="11" name="TextBox 5">
            <a:extLst>
              <a:ext uri="{FF2B5EF4-FFF2-40B4-BE49-F238E27FC236}">
                <a16:creationId xmlns:a16="http://schemas.microsoft.com/office/drawing/2014/main" id="{3F6EF501-C7BE-117F-2F9A-C1DCD0749114}"/>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
        <p:nvSpPr>
          <p:cNvPr id="3" name="TextBox 4">
            <a:extLst>
              <a:ext uri="{FF2B5EF4-FFF2-40B4-BE49-F238E27FC236}">
                <a16:creationId xmlns:a16="http://schemas.microsoft.com/office/drawing/2014/main" id="{CD92B0BB-455C-E551-0D40-6839221C092F}"/>
              </a:ext>
            </a:extLst>
          </p:cNvPr>
          <p:cNvSpPr txBox="1"/>
          <p:nvPr/>
        </p:nvSpPr>
        <p:spPr>
          <a:xfrm>
            <a:off x="11184567" y="415906"/>
            <a:ext cx="4724400" cy="971676"/>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Concept of Multi-omics data integration</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4EEA9961-602D-A82E-D4FE-15313EA515AB}"/>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8F5A5596-3F51-A9F9-1D97-E66328757370}"/>
              </a:ext>
            </a:extLst>
          </p:cNvPr>
          <p:cNvGrpSpPr/>
          <p:nvPr/>
        </p:nvGrpSpPr>
        <p:grpSpPr>
          <a:xfrm>
            <a:off x="-4579931" y="-7714915"/>
            <a:ext cx="24319519" cy="22408629"/>
            <a:chOff x="-4579931" y="-7714915"/>
            <a:chExt cx="24319519" cy="22408629"/>
          </a:xfrm>
        </p:grpSpPr>
        <p:sp>
          <p:nvSpPr>
            <p:cNvPr id="16" name="Freeform 6">
              <a:extLst>
                <a:ext uri="{FF2B5EF4-FFF2-40B4-BE49-F238E27FC236}">
                  <a16:creationId xmlns:a16="http://schemas.microsoft.com/office/drawing/2014/main" id="{25CC614C-058E-90ED-FE2D-F68C7D2382AC}"/>
                </a:ext>
              </a:extLst>
            </p:cNvPr>
            <p:cNvSpPr/>
            <p:nvPr/>
          </p:nvSpPr>
          <p:spPr>
            <a:xfrm rot="20335330">
              <a:off x="6799619" y="-7714915"/>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2">
              <a:extLst>
                <a:ext uri="{FF2B5EF4-FFF2-40B4-BE49-F238E27FC236}">
                  <a16:creationId xmlns:a16="http://schemas.microsoft.com/office/drawing/2014/main" id="{1292878B-78C8-7620-A299-31A185438C76}"/>
                </a:ext>
              </a:extLst>
            </p:cNvPr>
            <p:cNvSpPr/>
            <p:nvPr/>
          </p:nvSpPr>
          <p:spPr>
            <a:xfrm rot="20561123">
              <a:off x="-4579931" y="7738905"/>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grpSp>
        <p:nvGrpSpPr>
          <p:cNvPr id="6" name="Group 3">
            <a:extLst>
              <a:ext uri="{FF2B5EF4-FFF2-40B4-BE49-F238E27FC236}">
                <a16:creationId xmlns:a16="http://schemas.microsoft.com/office/drawing/2014/main" id="{0682501B-74E6-893F-2389-B053C3B2A0D8}"/>
              </a:ext>
            </a:extLst>
          </p:cNvPr>
          <p:cNvGrpSpPr/>
          <p:nvPr/>
        </p:nvGrpSpPr>
        <p:grpSpPr>
          <a:xfrm>
            <a:off x="0" y="965204"/>
            <a:ext cx="15009373" cy="6958667"/>
            <a:chOff x="-1320800" y="131240"/>
            <a:chExt cx="20012498" cy="9278233"/>
          </a:xfrm>
        </p:grpSpPr>
        <p:sp>
          <p:nvSpPr>
            <p:cNvPr id="7" name="TextBox 4">
              <a:extLst>
                <a:ext uri="{FF2B5EF4-FFF2-40B4-BE49-F238E27FC236}">
                  <a16:creationId xmlns:a16="http://schemas.microsoft.com/office/drawing/2014/main" id="{B2704E4E-FF22-F975-298E-6F59714C86AA}"/>
                </a:ext>
              </a:extLst>
            </p:cNvPr>
            <p:cNvSpPr txBox="1"/>
            <p:nvPr/>
          </p:nvSpPr>
          <p:spPr>
            <a:xfrm>
              <a:off x="1521299" y="2740974"/>
              <a:ext cx="17170399" cy="6668499"/>
            </a:xfrm>
            <a:prstGeom prst="rect">
              <a:avLst/>
            </a:prstGeom>
          </p:spPr>
          <p:txBody>
            <a:bodyPr wrap="square" lIns="0" tIns="0" rIns="0" bIns="0" rtlCol="0" anchor="t">
              <a:spAutoFit/>
            </a:bodyPr>
            <a:lstStyle/>
            <a:p>
              <a:pPr marL="514350" lvl="0" indent="-514350">
                <a:lnSpc>
                  <a:spcPts val="3920"/>
                </a:lnSpc>
                <a:spcBef>
                  <a:spcPct val="0"/>
                </a:spcBef>
                <a:buFont typeface="+mj-lt"/>
                <a:buAutoNum type="arabicPeriod"/>
                <a:defRPr/>
              </a:pPr>
              <a:r>
                <a:rPr lang="en-US" sz="3600" dirty="0">
                  <a:solidFill>
                    <a:srgbClr val="2B2B2B"/>
                  </a:solidFill>
                  <a:latin typeface="Agrandir"/>
                </a:rPr>
                <a:t>Capturing the heterogeneity of data in one module or in one group or more.</a:t>
              </a:r>
            </a:p>
            <a:p>
              <a:pPr marL="514350" lvl="0" indent="-514350">
                <a:lnSpc>
                  <a:spcPts val="3920"/>
                </a:lnSpc>
                <a:spcBef>
                  <a:spcPct val="0"/>
                </a:spcBef>
                <a:buFont typeface="+mj-lt"/>
                <a:buAutoNum type="arabicPeriod"/>
                <a:defRPr/>
              </a:pPr>
              <a:endParaRPr lang="en-US" sz="3600" dirty="0">
                <a:solidFill>
                  <a:srgbClr val="2B2B2B"/>
                </a:solidFill>
                <a:latin typeface="Agrandir"/>
              </a:endParaRPr>
            </a:p>
            <a:p>
              <a:pPr marL="514350" lvl="0" indent="-514350">
                <a:lnSpc>
                  <a:spcPts val="3920"/>
                </a:lnSpc>
                <a:spcBef>
                  <a:spcPct val="0"/>
                </a:spcBef>
                <a:buFont typeface="+mj-lt"/>
                <a:buAutoNum type="arabicPeriod"/>
                <a:defRPr/>
              </a:pPr>
              <a:r>
                <a:rPr lang="en-US" sz="3600" dirty="0">
                  <a:solidFill>
                    <a:srgbClr val="2B2B2B"/>
                  </a:solidFill>
                  <a:latin typeface="Agrandir"/>
                </a:rPr>
                <a:t>Identifying missing data , unknown data and outliers.</a:t>
              </a:r>
            </a:p>
            <a:p>
              <a:pPr marL="514350" lvl="0" indent="-514350">
                <a:lnSpc>
                  <a:spcPts val="3920"/>
                </a:lnSpc>
                <a:spcBef>
                  <a:spcPct val="0"/>
                </a:spcBef>
                <a:buFont typeface="+mj-lt"/>
                <a:buAutoNum type="arabicPeriod"/>
                <a:defRPr/>
              </a:pPr>
              <a:endParaRPr lang="en-US" sz="3600" dirty="0">
                <a:solidFill>
                  <a:srgbClr val="2B2B2B"/>
                </a:solidFill>
                <a:latin typeface="Agrandir"/>
              </a:endParaRPr>
            </a:p>
            <a:p>
              <a:pPr marL="514350" lvl="0" indent="-514350">
                <a:lnSpc>
                  <a:spcPts val="3920"/>
                </a:lnSpc>
                <a:spcBef>
                  <a:spcPct val="0"/>
                </a:spcBef>
                <a:buFont typeface="+mj-lt"/>
                <a:buAutoNum type="arabicPeriod"/>
                <a:defRPr/>
              </a:pPr>
              <a:endParaRPr lang="en-US" sz="3600" dirty="0">
                <a:solidFill>
                  <a:srgbClr val="2B2B2B"/>
                </a:solidFill>
                <a:latin typeface="Agrandir"/>
              </a:endParaRPr>
            </a:p>
            <a:p>
              <a:pPr marL="514350" lvl="0" indent="-514350">
                <a:lnSpc>
                  <a:spcPts val="3920"/>
                </a:lnSpc>
                <a:spcBef>
                  <a:spcPct val="0"/>
                </a:spcBef>
                <a:buFont typeface="+mj-lt"/>
                <a:buAutoNum type="arabicPeriod"/>
                <a:defRPr/>
              </a:pPr>
              <a:r>
                <a:rPr lang="en-US" sz="3600" dirty="0">
                  <a:solidFill>
                    <a:srgbClr val="2B2B2B"/>
                  </a:solidFill>
                  <a:latin typeface="Agrandir"/>
                </a:rPr>
                <a:t>Integrate different modules(different types of data).</a:t>
              </a:r>
            </a:p>
            <a:p>
              <a:pPr marL="514350" lvl="0" indent="-514350">
                <a:lnSpc>
                  <a:spcPts val="3920"/>
                </a:lnSpc>
                <a:spcBef>
                  <a:spcPct val="0"/>
                </a:spcBef>
                <a:buFont typeface="+mj-lt"/>
                <a:buAutoNum type="arabicPeriod"/>
                <a:defRPr/>
              </a:pPr>
              <a:endParaRPr lang="en-US" sz="3600" dirty="0">
                <a:solidFill>
                  <a:srgbClr val="2B2B2B"/>
                </a:solidFill>
                <a:latin typeface="Agrandir"/>
              </a:endParaRPr>
            </a:p>
            <a:p>
              <a:pPr marL="514350" lvl="0" indent="-514350">
                <a:lnSpc>
                  <a:spcPts val="3920"/>
                </a:lnSpc>
                <a:spcBef>
                  <a:spcPct val="0"/>
                </a:spcBef>
                <a:buFont typeface="+mj-lt"/>
                <a:buAutoNum type="arabicPeriod"/>
                <a:defRPr/>
              </a:pPr>
              <a:endParaRPr lang="en-US" sz="3600" dirty="0">
                <a:solidFill>
                  <a:srgbClr val="2B2B2B"/>
                </a:solidFill>
                <a:latin typeface="Agrandir"/>
              </a:endParaRPr>
            </a:p>
            <a:p>
              <a:pPr marL="514350" lvl="0" indent="-514350">
                <a:lnSpc>
                  <a:spcPts val="3920"/>
                </a:lnSpc>
                <a:spcBef>
                  <a:spcPct val="0"/>
                </a:spcBef>
                <a:buFont typeface="+mj-lt"/>
                <a:buAutoNum type="arabicPeriod"/>
                <a:defRPr/>
              </a:pPr>
              <a:r>
                <a:rPr lang="en-US" sz="3600" dirty="0">
                  <a:solidFill>
                    <a:srgbClr val="2B2B2B"/>
                  </a:solidFill>
                  <a:latin typeface="Agrandir"/>
                </a:rPr>
                <a:t>Identifying sample subgroups.</a:t>
              </a:r>
            </a:p>
          </p:txBody>
        </p:sp>
        <p:sp>
          <p:nvSpPr>
            <p:cNvPr id="8" name="TextBox 5">
              <a:extLst>
                <a:ext uri="{FF2B5EF4-FFF2-40B4-BE49-F238E27FC236}">
                  <a16:creationId xmlns:a16="http://schemas.microsoft.com/office/drawing/2014/main" id="{E30950EB-D8A6-6B9E-6189-323546ADFD76}"/>
                </a:ext>
              </a:extLst>
            </p:cNvPr>
            <p:cNvSpPr txBox="1"/>
            <p:nvPr/>
          </p:nvSpPr>
          <p:spPr>
            <a:xfrm>
              <a:off x="-1320800" y="131240"/>
              <a:ext cx="15839693" cy="1398674"/>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lang="en-US" sz="6999" dirty="0">
                  <a:solidFill>
                    <a:srgbClr val="2B2B2B"/>
                  </a:solidFill>
                  <a:latin typeface="Agrandir"/>
                </a:rPr>
                <a:t>Purpose of multi-</a:t>
              </a:r>
              <a:r>
                <a:rPr lang="en-US" sz="6999" dirty="0" err="1">
                  <a:solidFill>
                    <a:srgbClr val="2B2B2B"/>
                  </a:solidFill>
                  <a:latin typeface="Agrandir"/>
                </a:rPr>
                <a:t>omics</a:t>
              </a:r>
              <a:endParaRPr kumimoji="0" lang="en-US" sz="6999" b="0" i="0" u="none" strike="noStrike" kern="1200" cap="none" spc="0" normalizeH="0" baseline="0" noProof="0" dirty="0">
                <a:ln>
                  <a:noFill/>
                </a:ln>
                <a:solidFill>
                  <a:srgbClr val="2B2B2B"/>
                </a:solidFill>
                <a:effectLst/>
                <a:uLnTx/>
                <a:uFillTx/>
                <a:latin typeface="Agrandir"/>
                <a:ea typeface="+mn-ea"/>
                <a:cs typeface="+mn-cs"/>
              </a:endParaRPr>
            </a:p>
          </p:txBody>
        </p:sp>
      </p:grpSp>
      <p:sp>
        <p:nvSpPr>
          <p:cNvPr id="9" name="TextBox 5">
            <a:extLst>
              <a:ext uri="{FF2B5EF4-FFF2-40B4-BE49-F238E27FC236}">
                <a16:creationId xmlns:a16="http://schemas.microsoft.com/office/drawing/2014/main" id="{7E1E88DE-7886-7E6E-0A48-CAF1E1F0BA53}"/>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248924516"/>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A0A92F1E-6E6E-F2FC-1F21-79E4E576436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0FBCC6C-D452-F091-0023-751E654F6754}"/>
              </a:ext>
            </a:extLst>
          </p:cNvPr>
          <p:cNvGrpSpPr/>
          <p:nvPr/>
        </p:nvGrpSpPr>
        <p:grpSpPr>
          <a:xfrm>
            <a:off x="-4592411" y="-2584020"/>
            <a:ext cx="24570231" cy="15444838"/>
            <a:chOff x="-4592411" y="-2584020"/>
            <a:chExt cx="24570231" cy="15444838"/>
          </a:xfrm>
        </p:grpSpPr>
        <p:sp>
          <p:nvSpPr>
            <p:cNvPr id="7" name="Freeform 6">
              <a:extLst>
                <a:ext uri="{FF2B5EF4-FFF2-40B4-BE49-F238E27FC236}">
                  <a16:creationId xmlns:a16="http://schemas.microsoft.com/office/drawing/2014/main" id="{05F6BA20-BDC1-E3E3-4ED0-D830822B7EAD}"/>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a:extLst>
                <a:ext uri="{FF2B5EF4-FFF2-40B4-BE49-F238E27FC236}">
                  <a16:creationId xmlns:a16="http://schemas.microsoft.com/office/drawing/2014/main" id="{2A2A7F12-85C3-F9A9-EA89-24C55B06C476}"/>
                </a:ext>
              </a:extLst>
            </p:cNvPr>
            <p:cNvSpPr/>
            <p:nvPr/>
          </p:nvSpPr>
          <p:spPr>
            <a:xfrm rot="20561123">
              <a:off x="-4592411" y="-2584020"/>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sp>
        <p:nvSpPr>
          <p:cNvPr id="5" name="TextBox 5">
            <a:extLst>
              <a:ext uri="{FF2B5EF4-FFF2-40B4-BE49-F238E27FC236}">
                <a16:creationId xmlns:a16="http://schemas.microsoft.com/office/drawing/2014/main" id="{EF8656BE-2C2F-033F-9B9C-671E1A4D2601}"/>
              </a:ext>
            </a:extLst>
          </p:cNvPr>
          <p:cNvSpPr txBox="1"/>
          <p:nvPr/>
        </p:nvSpPr>
        <p:spPr>
          <a:xfrm>
            <a:off x="1028700" y="910697"/>
            <a:ext cx="12184569" cy="1049005"/>
          </a:xfrm>
          <a:prstGeom prst="rect">
            <a:avLst/>
          </a:prstGeom>
        </p:spPr>
        <p:txBody>
          <a:bodyPr lIns="0" tIns="0" rIns="0" bIns="0" rtlCol="0" anchor="t">
            <a:spAutoFit/>
          </a:bodyPr>
          <a:lstStyle/>
          <a:p>
            <a:pPr marL="0" marR="0" lvl="0" indent="0" algn="l"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Purpose of multi-omics</a:t>
            </a:r>
          </a:p>
        </p:txBody>
      </p:sp>
      <p:pic>
        <p:nvPicPr>
          <p:cNvPr id="8" name="Google Shape;67;p15">
            <a:extLst>
              <a:ext uri="{FF2B5EF4-FFF2-40B4-BE49-F238E27FC236}">
                <a16:creationId xmlns:a16="http://schemas.microsoft.com/office/drawing/2014/main" id="{04480859-EBFA-B472-696B-A0FDEE1E4572}"/>
              </a:ext>
            </a:extLst>
          </p:cNvPr>
          <p:cNvPicPr preferRelativeResize="0"/>
          <p:nvPr/>
        </p:nvPicPr>
        <p:blipFill rotWithShape="1">
          <a:blip r:embed="rId6">
            <a:alphaModFix/>
          </a:blip>
          <a:srcRect l="6821" t="16740" r="34059" b="24034"/>
          <a:stretch/>
        </p:blipFill>
        <p:spPr>
          <a:xfrm>
            <a:off x="1107888" y="2865107"/>
            <a:ext cx="9777744" cy="4556786"/>
          </a:xfrm>
          <a:prstGeom prst="rect">
            <a:avLst/>
          </a:prstGeom>
          <a:noFill/>
          <a:ln>
            <a:noFill/>
          </a:ln>
        </p:spPr>
      </p:pic>
      <p:pic>
        <p:nvPicPr>
          <p:cNvPr id="9" name="Google Shape;67;p15">
            <a:extLst>
              <a:ext uri="{FF2B5EF4-FFF2-40B4-BE49-F238E27FC236}">
                <a16:creationId xmlns:a16="http://schemas.microsoft.com/office/drawing/2014/main" id="{E8C6DD0D-CB53-FBB7-5765-C800DE33F0A3}"/>
              </a:ext>
            </a:extLst>
          </p:cNvPr>
          <p:cNvPicPr preferRelativeResize="0"/>
          <p:nvPr/>
        </p:nvPicPr>
        <p:blipFill rotWithShape="1">
          <a:blip r:embed="rId6">
            <a:alphaModFix/>
          </a:blip>
          <a:srcRect l="69110" r="1330"/>
          <a:stretch/>
        </p:blipFill>
        <p:spPr>
          <a:xfrm>
            <a:off x="12217497" y="1296546"/>
            <a:ext cx="4888872" cy="7693908"/>
          </a:xfrm>
          <a:prstGeom prst="rect">
            <a:avLst/>
          </a:prstGeom>
          <a:noFill/>
          <a:ln>
            <a:noFill/>
          </a:ln>
        </p:spPr>
      </p:pic>
      <p:sp>
        <p:nvSpPr>
          <p:cNvPr id="10" name="TextBox 5">
            <a:extLst>
              <a:ext uri="{FF2B5EF4-FFF2-40B4-BE49-F238E27FC236}">
                <a16:creationId xmlns:a16="http://schemas.microsoft.com/office/drawing/2014/main" id="{363DBA3F-A936-796B-B92D-5A7B17AEE785}"/>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17968770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F55C4818-78A0-4629-D89E-6AA83095319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F721B172-63AF-2EFB-4310-CE5375BFCEBB}"/>
              </a:ext>
            </a:extLst>
          </p:cNvPr>
          <p:cNvGrpSpPr/>
          <p:nvPr/>
        </p:nvGrpSpPr>
        <p:grpSpPr>
          <a:xfrm>
            <a:off x="-4627172" y="-7166257"/>
            <a:ext cx="24542112" cy="20662438"/>
            <a:chOff x="-4627172" y="-7166257"/>
            <a:chExt cx="24542112" cy="20662438"/>
          </a:xfrm>
        </p:grpSpPr>
        <p:sp>
          <p:nvSpPr>
            <p:cNvPr id="3" name="Freeform 6">
              <a:extLst>
                <a:ext uri="{FF2B5EF4-FFF2-40B4-BE49-F238E27FC236}">
                  <a16:creationId xmlns:a16="http://schemas.microsoft.com/office/drawing/2014/main" id="{161B5F65-134D-E0E3-89FA-4BA99AA31785}"/>
                </a:ext>
              </a:extLst>
            </p:cNvPr>
            <p:cNvSpPr/>
            <p:nvPr/>
          </p:nvSpPr>
          <p:spPr>
            <a:xfrm rot="20966379">
              <a:off x="6974971" y="-7166257"/>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4" name="Freeform 12">
              <a:extLst>
                <a:ext uri="{FF2B5EF4-FFF2-40B4-BE49-F238E27FC236}">
                  <a16:creationId xmlns:a16="http://schemas.microsoft.com/office/drawing/2014/main" id="{CCB670F9-8CE3-2711-CB9A-F30181B29590}"/>
                </a:ext>
              </a:extLst>
            </p:cNvPr>
            <p:cNvSpPr/>
            <p:nvPr/>
          </p:nvSpPr>
          <p:spPr>
            <a:xfrm rot="1117348">
              <a:off x="-4627172" y="6541372"/>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sp>
        <p:nvSpPr>
          <p:cNvPr id="5" name="TextBox 5">
            <a:extLst>
              <a:ext uri="{FF2B5EF4-FFF2-40B4-BE49-F238E27FC236}">
                <a16:creationId xmlns:a16="http://schemas.microsoft.com/office/drawing/2014/main" id="{42B0F478-E098-F0F6-4176-266DAE81B5EA}"/>
              </a:ext>
            </a:extLst>
          </p:cNvPr>
          <p:cNvSpPr txBox="1"/>
          <p:nvPr/>
        </p:nvSpPr>
        <p:spPr>
          <a:xfrm>
            <a:off x="1028700" y="800100"/>
            <a:ext cx="13634510" cy="1049005"/>
          </a:xfrm>
          <a:prstGeom prst="rect">
            <a:avLst/>
          </a:prstGeom>
        </p:spPr>
        <p:txBody>
          <a:bodyPr wrap="square" lIns="0" tIns="0" rIns="0" bIns="0" rtlCol="0" anchor="t">
            <a:spAutoFit/>
          </a:bodyPr>
          <a:lstStyle/>
          <a:p>
            <a:pPr marL="0" marR="0" lvl="0" indent="0" algn="l"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Types of integration methods</a:t>
            </a:r>
          </a:p>
        </p:txBody>
      </p:sp>
      <p:pic>
        <p:nvPicPr>
          <p:cNvPr id="8" name="Google Shape;74;p16">
            <a:extLst>
              <a:ext uri="{FF2B5EF4-FFF2-40B4-BE49-F238E27FC236}">
                <a16:creationId xmlns:a16="http://schemas.microsoft.com/office/drawing/2014/main" id="{B070C001-5C1A-DE6B-32C1-DF067746189E}"/>
              </a:ext>
            </a:extLst>
          </p:cNvPr>
          <p:cNvPicPr preferRelativeResize="0"/>
          <p:nvPr/>
        </p:nvPicPr>
        <p:blipFill rotWithShape="1">
          <a:blip r:embed="rId6">
            <a:alphaModFix/>
          </a:blip>
          <a:srcRect l="5336" t="2846" r="70540" b="2657"/>
          <a:stretch/>
        </p:blipFill>
        <p:spPr>
          <a:xfrm>
            <a:off x="2895600" y="2247900"/>
            <a:ext cx="4185712" cy="6657587"/>
          </a:xfrm>
          <a:prstGeom prst="rect">
            <a:avLst/>
          </a:prstGeom>
          <a:noFill/>
          <a:ln>
            <a:noFill/>
          </a:ln>
        </p:spPr>
      </p:pic>
      <p:pic>
        <p:nvPicPr>
          <p:cNvPr id="9" name="Google Shape;74;p16">
            <a:extLst>
              <a:ext uri="{FF2B5EF4-FFF2-40B4-BE49-F238E27FC236}">
                <a16:creationId xmlns:a16="http://schemas.microsoft.com/office/drawing/2014/main" id="{D967BD68-5526-CC8F-E1CC-B9A942EB981B}"/>
              </a:ext>
            </a:extLst>
          </p:cNvPr>
          <p:cNvPicPr preferRelativeResize="0"/>
          <p:nvPr/>
        </p:nvPicPr>
        <p:blipFill rotWithShape="1">
          <a:blip r:embed="rId6">
            <a:alphaModFix/>
          </a:blip>
          <a:srcRect l="67993" t="3449" r="4305"/>
          <a:stretch/>
        </p:blipFill>
        <p:spPr>
          <a:xfrm>
            <a:off x="11931102" y="2244090"/>
            <a:ext cx="4185710" cy="6657588"/>
          </a:xfrm>
          <a:prstGeom prst="rect">
            <a:avLst/>
          </a:prstGeom>
          <a:noFill/>
          <a:ln>
            <a:noFill/>
          </a:ln>
        </p:spPr>
      </p:pic>
      <p:pic>
        <p:nvPicPr>
          <p:cNvPr id="10" name="Google Shape;74;p16">
            <a:extLst>
              <a:ext uri="{FF2B5EF4-FFF2-40B4-BE49-F238E27FC236}">
                <a16:creationId xmlns:a16="http://schemas.microsoft.com/office/drawing/2014/main" id="{FF362435-6C25-3BC9-9141-4522290B988B}"/>
              </a:ext>
            </a:extLst>
          </p:cNvPr>
          <p:cNvPicPr preferRelativeResize="0"/>
          <p:nvPr/>
        </p:nvPicPr>
        <p:blipFill rotWithShape="1">
          <a:blip r:embed="rId6">
            <a:alphaModFix/>
          </a:blip>
          <a:srcRect l="33567" t="6045" r="37036"/>
          <a:stretch/>
        </p:blipFill>
        <p:spPr>
          <a:xfrm>
            <a:off x="7413352" y="2244090"/>
            <a:ext cx="4185710" cy="6657588"/>
          </a:xfrm>
          <a:prstGeom prst="rect">
            <a:avLst/>
          </a:prstGeom>
          <a:noFill/>
          <a:ln>
            <a:noFill/>
          </a:ln>
        </p:spPr>
      </p:pic>
      <p:sp>
        <p:nvSpPr>
          <p:cNvPr id="11" name="TextBox 5">
            <a:extLst>
              <a:ext uri="{FF2B5EF4-FFF2-40B4-BE49-F238E27FC236}">
                <a16:creationId xmlns:a16="http://schemas.microsoft.com/office/drawing/2014/main" id="{EB5C96AE-F458-EA2E-7869-8B9817FD5833}"/>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16636950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A01959C-9219-30A9-06C8-3EB1AE0CEF94}"/>
              </a:ext>
            </a:extLst>
          </p:cNvPr>
          <p:cNvGrpSpPr/>
          <p:nvPr/>
        </p:nvGrpSpPr>
        <p:grpSpPr>
          <a:xfrm>
            <a:off x="-4114800" y="-3771900"/>
            <a:ext cx="26104767" cy="16221702"/>
            <a:chOff x="-3668381" y="-3695700"/>
            <a:chExt cx="26104767" cy="16221702"/>
          </a:xfrm>
        </p:grpSpPr>
        <p:sp>
          <p:nvSpPr>
            <p:cNvPr id="2" name="Freeform 6">
              <a:extLst>
                <a:ext uri="{FF2B5EF4-FFF2-40B4-BE49-F238E27FC236}">
                  <a16:creationId xmlns:a16="http://schemas.microsoft.com/office/drawing/2014/main" id="{783A91BA-D446-D42F-D1E0-43CF11555D67}"/>
                </a:ext>
              </a:extLst>
            </p:cNvPr>
            <p:cNvSpPr/>
            <p:nvPr/>
          </p:nvSpPr>
          <p:spPr>
            <a:xfrm>
              <a:off x="-3668381" y="5668002"/>
              <a:ext cx="11516981" cy="6858000"/>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1782232F-07CF-8128-3857-9B30CEC602A3}"/>
                </a:ext>
              </a:extLst>
            </p:cNvPr>
            <p:cNvSpPr/>
            <p:nvPr/>
          </p:nvSpPr>
          <p:spPr>
            <a:xfrm>
              <a:off x="8644186" y="-3695700"/>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8" name="TextBox 5">
            <a:extLst>
              <a:ext uri="{FF2B5EF4-FFF2-40B4-BE49-F238E27FC236}">
                <a16:creationId xmlns:a16="http://schemas.microsoft.com/office/drawing/2014/main" id="{E92CE4A7-FCE1-2787-6DED-B7AAF372B827}"/>
              </a:ext>
            </a:extLst>
          </p:cNvPr>
          <p:cNvSpPr txBox="1"/>
          <p:nvPr/>
        </p:nvSpPr>
        <p:spPr>
          <a:xfrm>
            <a:off x="3051715" y="4618997"/>
            <a:ext cx="12184569" cy="1049005"/>
          </a:xfrm>
          <a:prstGeom prst="rect">
            <a:avLst/>
          </a:prstGeom>
        </p:spPr>
        <p:txBody>
          <a:bodyPr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Multi-Omics Factor Analysis</a:t>
            </a:r>
          </a:p>
        </p:txBody>
      </p:sp>
      <p:sp>
        <p:nvSpPr>
          <p:cNvPr id="10" name="TextBox 5">
            <a:extLst>
              <a:ext uri="{FF2B5EF4-FFF2-40B4-BE49-F238E27FC236}">
                <a16:creationId xmlns:a16="http://schemas.microsoft.com/office/drawing/2014/main" id="{9B8E5BFE-580A-843A-C34C-C7C683D7C29D}"/>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4EEA9961-602D-A82E-D4FE-15313EA515AB}"/>
            </a:ext>
          </a:extLst>
        </p:cNvPr>
        <p:cNvGrpSpPr/>
        <p:nvPr/>
      </p:nvGrpSpPr>
      <p:grpSpPr>
        <a:xfrm>
          <a:off x="0" y="0"/>
          <a:ext cx="0" cy="0"/>
          <a:chOff x="0" y="0"/>
          <a:chExt cx="0" cy="0"/>
        </a:xfrm>
      </p:grpSpPr>
      <p:sp>
        <p:nvSpPr>
          <p:cNvPr id="10" name="Freeform 6">
            <a:extLst>
              <a:ext uri="{FF2B5EF4-FFF2-40B4-BE49-F238E27FC236}">
                <a16:creationId xmlns:a16="http://schemas.microsoft.com/office/drawing/2014/main" id="{F9A14F11-6C57-7A44-B75E-4FAFC8BB491B}"/>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2">
            <a:extLst>
              <a:ext uri="{FF2B5EF4-FFF2-40B4-BE49-F238E27FC236}">
                <a16:creationId xmlns:a16="http://schemas.microsoft.com/office/drawing/2014/main" id="{E6DE9F36-8F3D-3254-1901-4B5C822CCB7B}"/>
              </a:ext>
            </a:extLst>
          </p:cNvPr>
          <p:cNvSpPr/>
          <p:nvPr/>
        </p:nvSpPr>
        <p:spPr>
          <a:xfrm rot="20561123">
            <a:off x="-4861900" y="-2566709"/>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6" name="Group 3">
            <a:extLst>
              <a:ext uri="{FF2B5EF4-FFF2-40B4-BE49-F238E27FC236}">
                <a16:creationId xmlns:a16="http://schemas.microsoft.com/office/drawing/2014/main" id="{0682501B-74E6-893F-2389-B053C3B2A0D8}"/>
              </a:ext>
            </a:extLst>
          </p:cNvPr>
          <p:cNvGrpSpPr/>
          <p:nvPr/>
        </p:nvGrpSpPr>
        <p:grpSpPr>
          <a:xfrm>
            <a:off x="838201" y="723900"/>
            <a:ext cx="12336968" cy="6155588"/>
            <a:chOff x="-203199" y="-190499"/>
            <a:chExt cx="16449291" cy="8207454"/>
          </a:xfrm>
        </p:grpSpPr>
        <p:sp>
          <p:nvSpPr>
            <p:cNvPr id="7" name="TextBox 4">
              <a:extLst>
                <a:ext uri="{FF2B5EF4-FFF2-40B4-BE49-F238E27FC236}">
                  <a16:creationId xmlns:a16="http://schemas.microsoft.com/office/drawing/2014/main" id="{B2704E4E-FF22-F975-298E-6F59714C86AA}"/>
                </a:ext>
              </a:extLst>
            </p:cNvPr>
            <p:cNvSpPr txBox="1"/>
            <p:nvPr/>
          </p:nvSpPr>
          <p:spPr>
            <a:xfrm>
              <a:off x="-203199" y="3387652"/>
              <a:ext cx="11785599" cy="4629303"/>
            </a:xfrm>
            <a:prstGeom prst="rect">
              <a:avLst/>
            </a:prstGeom>
          </p:spPr>
          <p:txBody>
            <a:bodyPr wrap="square" lIns="0" tIns="0" rIns="0" bIns="0" rtlCol="0" anchor="t">
              <a:spAutoFit/>
            </a:bodyPr>
            <a:lstStyle/>
            <a:p>
              <a:pPr marL="0" marR="0" lvl="0" indent="0" algn="ctr" defTabSz="914400" rtl="0" eaLnBrk="1" fontAlgn="auto" latinLnBrk="0" hangingPunct="1">
                <a:lnSpc>
                  <a:spcPts val="392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MOFA is a model that combines different types of biological data to find common patterns. Think of it like an advanced version of principal component analysis for multiple data sets. It identifies key factors that explain variations in various data types, helping to understand cellular states or disease groups.</a:t>
              </a:r>
            </a:p>
          </p:txBody>
        </p:sp>
        <p:sp>
          <p:nvSpPr>
            <p:cNvPr id="8" name="TextBox 5">
              <a:extLst>
                <a:ext uri="{FF2B5EF4-FFF2-40B4-BE49-F238E27FC236}">
                  <a16:creationId xmlns:a16="http://schemas.microsoft.com/office/drawing/2014/main" id="{E30950EB-D8A6-6B9E-6189-323546ADFD76}"/>
                </a:ext>
              </a:extLst>
            </p:cNvPr>
            <p:cNvSpPr txBox="1"/>
            <p:nvPr/>
          </p:nvSpPr>
          <p:spPr>
            <a:xfrm>
              <a:off x="0" y="-190499"/>
              <a:ext cx="16246092" cy="1398673"/>
            </a:xfrm>
            <a:prstGeom prst="rect">
              <a:avLst/>
            </a:prstGeom>
          </p:spPr>
          <p:txBody>
            <a:bodyPr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Multi-Omics Factor Analysis</a:t>
              </a:r>
            </a:p>
          </p:txBody>
        </p:sp>
      </p:grpSp>
      <p:pic>
        <p:nvPicPr>
          <p:cNvPr id="3" name="Google Shape;81;p17">
            <a:extLst>
              <a:ext uri="{FF2B5EF4-FFF2-40B4-BE49-F238E27FC236}">
                <a16:creationId xmlns:a16="http://schemas.microsoft.com/office/drawing/2014/main" id="{DC021BC8-0CE8-E52D-5436-5C278C2BD013}"/>
              </a:ext>
            </a:extLst>
          </p:cNvPr>
          <p:cNvPicPr preferRelativeResize="0"/>
          <p:nvPr/>
        </p:nvPicPr>
        <p:blipFill rotWithShape="1">
          <a:blip r:embed="rId6">
            <a:alphaModFix/>
          </a:blip>
          <a:srcRect l="-6659" t="5039" r="-6659"/>
          <a:stretch/>
        </p:blipFill>
        <p:spPr>
          <a:xfrm>
            <a:off x="9894175" y="3076760"/>
            <a:ext cx="8393825" cy="6506408"/>
          </a:xfrm>
          <a:prstGeom prst="rect">
            <a:avLst/>
          </a:prstGeom>
          <a:noFill/>
          <a:ln>
            <a:noFill/>
          </a:ln>
        </p:spPr>
      </p:pic>
      <p:sp>
        <p:nvSpPr>
          <p:cNvPr id="9" name="TextBox 5">
            <a:extLst>
              <a:ext uri="{FF2B5EF4-FFF2-40B4-BE49-F238E27FC236}">
                <a16:creationId xmlns:a16="http://schemas.microsoft.com/office/drawing/2014/main" id="{7E1E88DE-7886-7E6E-0A48-CAF1E1F0BA53}"/>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grpSp>
        <p:nvGrpSpPr>
          <p:cNvPr id="5" name="Group 4">
            <a:extLst>
              <a:ext uri="{FF2B5EF4-FFF2-40B4-BE49-F238E27FC236}">
                <a16:creationId xmlns:a16="http://schemas.microsoft.com/office/drawing/2014/main" id="{35F6666B-A37B-2A22-8E93-E5BD6480B861}"/>
              </a:ext>
            </a:extLst>
          </p:cNvPr>
          <p:cNvGrpSpPr/>
          <p:nvPr/>
        </p:nvGrpSpPr>
        <p:grpSpPr>
          <a:xfrm>
            <a:off x="12045843" y="2104370"/>
            <a:ext cx="4090487" cy="7950337"/>
            <a:chOff x="12045843" y="2104370"/>
            <a:chExt cx="4090487" cy="7950337"/>
          </a:xfrm>
        </p:grpSpPr>
        <p:sp>
          <p:nvSpPr>
            <p:cNvPr id="2" name="TextBox 4">
              <a:extLst>
                <a:ext uri="{FF2B5EF4-FFF2-40B4-BE49-F238E27FC236}">
                  <a16:creationId xmlns:a16="http://schemas.microsoft.com/office/drawing/2014/main" id="{33A29102-646E-0B43-2805-804571FF993A}"/>
                </a:ext>
              </a:extLst>
            </p:cNvPr>
            <p:cNvSpPr txBox="1"/>
            <p:nvPr/>
          </p:nvSpPr>
          <p:spPr>
            <a:xfrm>
              <a:off x="12045843" y="2104370"/>
              <a:ext cx="4090487" cy="971676"/>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Model overview of MOFA</a:t>
              </a:r>
            </a:p>
          </p:txBody>
        </p:sp>
        <p:sp>
          <p:nvSpPr>
            <p:cNvPr id="4" name="TextBox 4">
              <a:extLst>
                <a:ext uri="{FF2B5EF4-FFF2-40B4-BE49-F238E27FC236}">
                  <a16:creationId xmlns:a16="http://schemas.microsoft.com/office/drawing/2014/main" id="{CC411B25-6621-B754-1936-B4F93629C1C6}"/>
                </a:ext>
              </a:extLst>
            </p:cNvPr>
            <p:cNvSpPr txBox="1"/>
            <p:nvPr/>
          </p:nvSpPr>
          <p:spPr>
            <a:xfrm>
              <a:off x="12573000" y="9583168"/>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a:t>
              </a:r>
              <a:r>
                <a:rPr lang="en-US" sz="2800" dirty="0">
                  <a:solidFill>
                    <a:srgbClr val="2B2B2B"/>
                  </a:solidFill>
                  <a:latin typeface="Agrandir"/>
                </a:rPr>
                <a:t>1</a:t>
              </a:r>
              <a:r>
                <a:rPr kumimoji="0" lang="en-US" sz="2800" b="0" i="0" u="none" strike="noStrike" kern="1200" cap="none" spc="0" normalizeH="0" baseline="0" noProof="0" dirty="0">
                  <a:ln>
                    <a:noFill/>
                  </a:ln>
                  <a:solidFill>
                    <a:srgbClr val="2B2B2B"/>
                  </a:solidFill>
                  <a:effectLst/>
                  <a:uLnTx/>
                  <a:uFillTx/>
                  <a:latin typeface="Agrandir"/>
                  <a:ea typeface="+mn-ea"/>
                  <a:cs typeface="+mn-cs"/>
                </a:rPr>
                <a:t>: (a)</a:t>
              </a:r>
            </a:p>
          </p:txBody>
        </p:sp>
      </p:grpSp>
    </p:spTree>
    <p:extLst>
      <p:ext uri="{BB962C8B-B14F-4D97-AF65-F5344CB8AC3E}">
        <p14:creationId xmlns:p14="http://schemas.microsoft.com/office/powerpoint/2010/main" val="17474822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60083936-2C2A-0ACA-0DD8-09F02644FC2E}"/>
            </a:ext>
          </a:extLst>
        </p:cNvPr>
        <p:cNvGrpSpPr/>
        <p:nvPr/>
      </p:nvGrpSpPr>
      <p:grpSpPr>
        <a:xfrm>
          <a:off x="0" y="0"/>
          <a:ext cx="0" cy="0"/>
          <a:chOff x="0" y="0"/>
          <a:chExt cx="0" cy="0"/>
        </a:xfrm>
      </p:grpSpPr>
      <p:sp>
        <p:nvSpPr>
          <p:cNvPr id="2" name="Freeform 6">
            <a:extLst>
              <a:ext uri="{FF2B5EF4-FFF2-40B4-BE49-F238E27FC236}">
                <a16:creationId xmlns:a16="http://schemas.microsoft.com/office/drawing/2014/main" id="{4470EC4A-B4F2-F2A3-8B92-1ECBB2630851}"/>
              </a:ext>
            </a:extLst>
          </p:cNvPr>
          <p:cNvSpPr/>
          <p:nvPr/>
        </p:nvSpPr>
        <p:spPr>
          <a:xfrm>
            <a:off x="-3733800" y="5829300"/>
            <a:ext cx="7687172" cy="6858000"/>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0592FE78-98C1-E1CB-1066-15AACB643A8A}"/>
              </a:ext>
            </a:extLst>
          </p:cNvPr>
          <p:cNvSpPr/>
          <p:nvPr/>
        </p:nvSpPr>
        <p:spPr>
          <a:xfrm>
            <a:off x="8644186" y="-3695700"/>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5">
            <a:extLst>
              <a:ext uri="{FF2B5EF4-FFF2-40B4-BE49-F238E27FC236}">
                <a16:creationId xmlns:a16="http://schemas.microsoft.com/office/drawing/2014/main" id="{8ACCCC79-CC03-AF3E-FE3E-EF69EF7F8975}"/>
              </a:ext>
            </a:extLst>
          </p:cNvPr>
          <p:cNvSpPr txBox="1"/>
          <p:nvPr/>
        </p:nvSpPr>
        <p:spPr>
          <a:xfrm>
            <a:off x="3051715" y="4618997"/>
            <a:ext cx="12184569" cy="1049005"/>
          </a:xfrm>
          <a:prstGeom prst="rect">
            <a:avLst/>
          </a:prstGeom>
        </p:spPr>
        <p:txBody>
          <a:bodyPr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Why we used MOFA</a:t>
            </a:r>
          </a:p>
        </p:txBody>
      </p:sp>
      <p:sp>
        <p:nvSpPr>
          <p:cNvPr id="10" name="TextBox 5">
            <a:extLst>
              <a:ext uri="{FF2B5EF4-FFF2-40B4-BE49-F238E27FC236}">
                <a16:creationId xmlns:a16="http://schemas.microsoft.com/office/drawing/2014/main" id="{248FED3E-285B-D029-7818-C3AE51875EA8}"/>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302227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11D882B-2FBF-A6D2-DB34-351D84E9E494}"/>
              </a:ext>
            </a:extLst>
          </p:cNvPr>
          <p:cNvGrpSpPr/>
          <p:nvPr/>
        </p:nvGrpSpPr>
        <p:grpSpPr>
          <a:xfrm>
            <a:off x="-4579931" y="-7714915"/>
            <a:ext cx="25126576" cy="22408629"/>
            <a:chOff x="-4579931" y="-7714915"/>
            <a:chExt cx="25126576" cy="22408629"/>
          </a:xfrm>
        </p:grpSpPr>
        <p:sp>
          <p:nvSpPr>
            <p:cNvPr id="6" name="Freeform 9">
              <a:extLst>
                <a:ext uri="{FF2B5EF4-FFF2-40B4-BE49-F238E27FC236}">
                  <a16:creationId xmlns:a16="http://schemas.microsoft.com/office/drawing/2014/main" id="{D038A974-E438-C65C-3046-556840B37B2F}"/>
                </a:ext>
              </a:extLst>
            </p:cNvPr>
            <p:cNvSpPr/>
            <p:nvPr/>
          </p:nvSpPr>
          <p:spPr>
            <a:xfrm rot="319214">
              <a:off x="13595711" y="8656884"/>
              <a:ext cx="6950934" cy="4302824"/>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6">
              <a:extLst>
                <a:ext uri="{FF2B5EF4-FFF2-40B4-BE49-F238E27FC236}">
                  <a16:creationId xmlns:a16="http://schemas.microsoft.com/office/drawing/2014/main" id="{0B0CAC46-2B9F-A43E-B657-4FA99CFFDBBE}"/>
                </a:ext>
              </a:extLst>
            </p:cNvPr>
            <p:cNvSpPr/>
            <p:nvPr/>
          </p:nvSpPr>
          <p:spPr>
            <a:xfrm rot="20335330">
              <a:off x="6799619" y="-7714915"/>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2">
              <a:extLst>
                <a:ext uri="{FF2B5EF4-FFF2-40B4-BE49-F238E27FC236}">
                  <a16:creationId xmlns:a16="http://schemas.microsoft.com/office/drawing/2014/main" id="{718EE7EF-8296-F5B7-D244-998556CAECAA}"/>
                </a:ext>
              </a:extLst>
            </p:cNvPr>
            <p:cNvSpPr/>
            <p:nvPr/>
          </p:nvSpPr>
          <p:spPr>
            <a:xfrm rot="20561123">
              <a:off x="-4579931" y="7738905"/>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grpSp>
      <p:grpSp>
        <p:nvGrpSpPr>
          <p:cNvPr id="3" name="Group 3"/>
          <p:cNvGrpSpPr/>
          <p:nvPr/>
        </p:nvGrpSpPr>
        <p:grpSpPr>
          <a:xfrm>
            <a:off x="-37310" y="647700"/>
            <a:ext cx="16268671" cy="9628649"/>
            <a:chOff x="-1745184" y="-1134256"/>
            <a:chExt cx="18646032" cy="12838193"/>
          </a:xfrm>
        </p:grpSpPr>
        <p:sp>
          <p:nvSpPr>
            <p:cNvPr id="4" name="TextBox 4"/>
            <p:cNvSpPr txBox="1"/>
            <p:nvPr/>
          </p:nvSpPr>
          <p:spPr>
            <a:xfrm>
              <a:off x="654755" y="1072484"/>
              <a:ext cx="16246093" cy="10631453"/>
            </a:xfrm>
            <a:prstGeom prst="rect">
              <a:avLst/>
            </a:prstGeom>
          </p:spPr>
          <p:txBody>
            <a:bodyPr lIns="0" tIns="0" rIns="0" bIns="0" rtlCol="0" anchor="t">
              <a:spAutoFit/>
            </a:bodyPr>
            <a:lstStyle/>
            <a:p>
              <a:pPr marL="0" lvl="0" indent="0" algn="ctr">
                <a:lnSpc>
                  <a:spcPts val="3920"/>
                </a:lnSpc>
                <a:spcBef>
                  <a:spcPct val="0"/>
                </a:spcBef>
              </a:pPr>
              <a:r>
                <a:rPr lang="en-US" sz="2800" dirty="0">
                  <a:solidFill>
                    <a:srgbClr val="2B2B2B"/>
                  </a:solidFill>
                  <a:latin typeface="Agrandir"/>
                </a:rPr>
                <a:t>In general , </a:t>
              </a:r>
              <a:r>
                <a:rPr lang="en-US" sz="2800" u="none" dirty="0">
                  <a:solidFill>
                    <a:srgbClr val="2B2B2B"/>
                  </a:solidFill>
                  <a:latin typeface="Agrandir"/>
                </a:rPr>
                <a:t>We used MOFA to </a:t>
              </a:r>
              <a:r>
                <a:rPr lang="en-US" sz="2800" u="none" dirty="0" err="1">
                  <a:solidFill>
                    <a:srgbClr val="2B2B2B"/>
                  </a:solidFill>
                  <a:latin typeface="Agrandir"/>
                </a:rPr>
                <a:t>analyse</a:t>
              </a:r>
              <a:r>
                <a:rPr lang="en-US" sz="2800" u="none" dirty="0">
                  <a:solidFill>
                    <a:srgbClr val="2B2B2B"/>
                  </a:solidFill>
                  <a:latin typeface="Agrandir"/>
                </a:rPr>
                <a:t> a disease (Acute Myeloid Leukemia) to detect the status of each sample (</a:t>
              </a:r>
              <a:r>
                <a:rPr lang="en-US" sz="2800" dirty="0">
                  <a:solidFill>
                    <a:srgbClr val="2B2B2B"/>
                  </a:solidFill>
                  <a:latin typeface="Agrandir"/>
                </a:rPr>
                <a:t>sick </a:t>
              </a:r>
              <a:r>
                <a:rPr lang="en-US" sz="2800" u="none" dirty="0">
                  <a:solidFill>
                    <a:srgbClr val="2B2B2B"/>
                  </a:solidFill>
                  <a:latin typeface="Agrandir"/>
                </a:rPr>
                <a:t>or not sick).</a:t>
              </a:r>
            </a:p>
            <a:p>
              <a:pPr marL="0" lvl="0" indent="0" algn="l">
                <a:lnSpc>
                  <a:spcPts val="3920"/>
                </a:lnSpc>
                <a:spcBef>
                  <a:spcPct val="0"/>
                </a:spcBef>
              </a:pPr>
              <a:endParaRPr lang="en-US" sz="2800" u="none" dirty="0">
                <a:solidFill>
                  <a:srgbClr val="2B2B2B"/>
                </a:solidFill>
                <a:latin typeface="Agrandir"/>
              </a:endParaRPr>
            </a:p>
            <a:p>
              <a:pPr marL="457200" indent="-457200">
                <a:lnSpc>
                  <a:spcPts val="3920"/>
                </a:lnSpc>
                <a:spcBef>
                  <a:spcPct val="0"/>
                </a:spcBef>
                <a:buFont typeface="Arial" panose="020B0604020202020204" pitchFamily="34" charset="0"/>
                <a:buChar char="•"/>
              </a:pPr>
              <a:r>
                <a:rPr lang="en-US" sz="2800" dirty="0">
                  <a:solidFill>
                    <a:srgbClr val="2B2B2B"/>
                  </a:solidFill>
                  <a:latin typeface="Agrandir"/>
                </a:rPr>
                <a:t>Contribution of MOFA :</a:t>
              </a:r>
            </a:p>
            <a:p>
              <a:pPr>
                <a:lnSpc>
                  <a:spcPts val="3920"/>
                </a:lnSpc>
                <a:spcBef>
                  <a:spcPct val="0"/>
                </a:spcBef>
              </a:pPr>
              <a:r>
                <a:rPr lang="en-US" sz="2800" dirty="0">
                  <a:solidFill>
                    <a:srgbClr val="2B2B2B"/>
                  </a:solidFill>
                  <a:latin typeface="Agrandir"/>
                </a:rPr>
                <a:t>     MOFA contributes to benchmark our results to make sure of the    </a:t>
              </a:r>
            </a:p>
            <a:p>
              <a:pPr>
                <a:lnSpc>
                  <a:spcPts val="3920"/>
                </a:lnSpc>
                <a:spcBef>
                  <a:spcPct val="0"/>
                </a:spcBef>
              </a:pPr>
              <a:r>
                <a:rPr lang="en-US" sz="2800" dirty="0">
                  <a:solidFill>
                    <a:srgbClr val="2B2B2B"/>
                  </a:solidFill>
                  <a:latin typeface="Agrandir"/>
                </a:rPr>
                <a:t>     downstream analysis of data .</a:t>
              </a:r>
              <a:endParaRPr lang="en-US" sz="2800" u="none" dirty="0">
                <a:solidFill>
                  <a:srgbClr val="2B2B2B"/>
                </a:solidFill>
                <a:latin typeface="Agrandir"/>
              </a:endParaRPr>
            </a:p>
            <a:p>
              <a:pPr marL="457200" lvl="0" indent="-457200">
                <a:lnSpc>
                  <a:spcPts val="3920"/>
                </a:lnSpc>
                <a:spcBef>
                  <a:spcPct val="0"/>
                </a:spcBef>
                <a:buFont typeface="Arial" panose="020B0604020202020204" pitchFamily="34" charset="0"/>
                <a:buChar char="•"/>
              </a:pPr>
              <a:r>
                <a:rPr lang="en-US" sz="2800" dirty="0">
                  <a:solidFill>
                    <a:srgbClr val="2B2B2B"/>
                  </a:solidFill>
                  <a:latin typeface="Agrandir"/>
                </a:rPr>
                <a:t> Comprehensive understanding of human complex diseases requires the analysis of multi-omics data reciprocally with clinical information.</a:t>
              </a:r>
            </a:p>
            <a:p>
              <a:pPr marL="457200" lvl="0" indent="-457200">
                <a:lnSpc>
                  <a:spcPts val="3920"/>
                </a:lnSpc>
                <a:spcBef>
                  <a:spcPct val="0"/>
                </a:spcBef>
                <a:buFont typeface="Arial" panose="020B0604020202020204" pitchFamily="34" charset="0"/>
                <a:buChar char="•"/>
              </a:pPr>
              <a:r>
                <a:rPr lang="en-US" sz="2800" dirty="0">
                  <a:solidFill>
                    <a:srgbClr val="2B2B2B"/>
                  </a:solidFill>
                  <a:latin typeface="Agrandir"/>
                </a:rPr>
                <a:t> Based on the analysis, useful insights into the cellular functions are derived.</a:t>
              </a:r>
            </a:p>
            <a:p>
              <a:pPr marL="457200" lvl="0" indent="-457200">
                <a:lnSpc>
                  <a:spcPts val="3920"/>
                </a:lnSpc>
                <a:spcBef>
                  <a:spcPct val="0"/>
                </a:spcBef>
                <a:buFont typeface="Arial" panose="020B0604020202020204" pitchFamily="34" charset="0"/>
                <a:buChar char="•"/>
              </a:pPr>
              <a:r>
                <a:rPr lang="en-US" sz="2800" dirty="0">
                  <a:solidFill>
                    <a:srgbClr val="2B2B2B"/>
                  </a:solidFill>
                  <a:latin typeface="Agrandir"/>
                </a:rPr>
                <a:t>The integration helps to understand the interplay of the biomolecules and in the assessment of the information from the </a:t>
              </a:r>
              <a:r>
                <a:rPr lang="en-US" sz="2800" dirty="0" err="1">
                  <a:solidFill>
                    <a:srgbClr val="2B2B2B"/>
                  </a:solidFill>
                  <a:latin typeface="Agrandir"/>
                </a:rPr>
                <a:t>omics</a:t>
              </a:r>
              <a:r>
                <a:rPr lang="en-US" sz="2800" dirty="0">
                  <a:solidFill>
                    <a:srgbClr val="2B2B2B"/>
                  </a:solidFill>
                  <a:latin typeface="Agrandir"/>
                </a:rPr>
                <a:t> data. </a:t>
              </a:r>
            </a:p>
            <a:p>
              <a:pPr lvl="0">
                <a:lnSpc>
                  <a:spcPts val="3920"/>
                </a:lnSpc>
                <a:spcBef>
                  <a:spcPct val="0"/>
                </a:spcBef>
              </a:pPr>
              <a:endParaRPr lang="en-US" sz="2800" dirty="0">
                <a:solidFill>
                  <a:srgbClr val="2B2B2B"/>
                </a:solidFill>
                <a:latin typeface="Agrandir"/>
              </a:endParaRPr>
            </a:p>
            <a:p>
              <a:pPr lvl="0" algn="ctr">
                <a:lnSpc>
                  <a:spcPts val="3920"/>
                </a:lnSpc>
                <a:spcBef>
                  <a:spcPct val="0"/>
                </a:spcBef>
              </a:pPr>
              <a:r>
                <a:rPr lang="en-US" sz="2800" dirty="0">
                  <a:solidFill>
                    <a:srgbClr val="2B2B2B"/>
                  </a:solidFill>
                  <a:latin typeface="Agrandir"/>
                </a:rPr>
                <a:t>Further, it improves prognostic and predictive accuracies hence better treatment and prevention of the diseases</a:t>
              </a:r>
              <a:endParaRPr lang="en-US" sz="2800" u="none" dirty="0">
                <a:solidFill>
                  <a:srgbClr val="2B2B2B"/>
                </a:solidFill>
                <a:latin typeface="Agrandir"/>
              </a:endParaRPr>
            </a:p>
            <a:p>
              <a:pPr marL="0" lvl="0" indent="0" algn="l">
                <a:lnSpc>
                  <a:spcPts val="3920"/>
                </a:lnSpc>
                <a:spcBef>
                  <a:spcPct val="0"/>
                </a:spcBef>
              </a:pPr>
              <a:endParaRPr lang="en-US" sz="2800" u="none" dirty="0">
                <a:solidFill>
                  <a:srgbClr val="2B2B2B"/>
                </a:solidFill>
                <a:latin typeface="Agrandir"/>
              </a:endParaRPr>
            </a:p>
            <a:p>
              <a:pPr marL="0" lvl="0" indent="0" algn="l">
                <a:lnSpc>
                  <a:spcPts val="3920"/>
                </a:lnSpc>
                <a:spcBef>
                  <a:spcPct val="0"/>
                </a:spcBef>
              </a:pPr>
              <a:endParaRPr lang="en-US" sz="2800" u="none" dirty="0">
                <a:solidFill>
                  <a:srgbClr val="2B2B2B"/>
                </a:solidFill>
                <a:latin typeface="Agrandir"/>
              </a:endParaRPr>
            </a:p>
          </p:txBody>
        </p:sp>
        <p:sp>
          <p:nvSpPr>
            <p:cNvPr id="5" name="TextBox 5"/>
            <p:cNvSpPr txBox="1"/>
            <p:nvPr/>
          </p:nvSpPr>
          <p:spPr>
            <a:xfrm>
              <a:off x="-1745184" y="-1134256"/>
              <a:ext cx="12560419"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Why we used MOFA</a:t>
              </a:r>
            </a:p>
          </p:txBody>
        </p:sp>
      </p:grpSp>
      <p:sp>
        <p:nvSpPr>
          <p:cNvPr id="14" name="TextBox 5">
            <a:extLst>
              <a:ext uri="{FF2B5EF4-FFF2-40B4-BE49-F238E27FC236}">
                <a16:creationId xmlns:a16="http://schemas.microsoft.com/office/drawing/2014/main" id="{A98A0B2F-5663-197E-FFDE-3A66774DCDB0}"/>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1858347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87EB58-A244-A7DD-3624-775480713CBD}"/>
              </a:ext>
            </a:extLst>
          </p:cNvPr>
          <p:cNvGrpSpPr/>
          <p:nvPr/>
        </p:nvGrpSpPr>
        <p:grpSpPr>
          <a:xfrm>
            <a:off x="-4592411" y="-2584020"/>
            <a:ext cx="25131077" cy="15444838"/>
            <a:chOff x="-4592411" y="-2584020"/>
            <a:chExt cx="25131077" cy="15444838"/>
          </a:xfrm>
        </p:grpSpPr>
        <p:sp>
          <p:nvSpPr>
            <p:cNvPr id="11" name="Freeform 9">
              <a:extLst>
                <a:ext uri="{FF2B5EF4-FFF2-40B4-BE49-F238E27FC236}">
                  <a16:creationId xmlns:a16="http://schemas.microsoft.com/office/drawing/2014/main" id="{2701B48F-EF8F-22AE-6E17-9B770AEB8616}"/>
                </a:ext>
              </a:extLst>
            </p:cNvPr>
            <p:cNvSpPr/>
            <p:nvPr/>
          </p:nvSpPr>
          <p:spPr>
            <a:xfrm rot="319214">
              <a:off x="13587732" y="-1529710"/>
              <a:ext cx="6950934" cy="4302824"/>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6">
              <a:extLst>
                <a:ext uri="{FF2B5EF4-FFF2-40B4-BE49-F238E27FC236}">
                  <a16:creationId xmlns:a16="http://schemas.microsoft.com/office/drawing/2014/main" id="{26DAEC39-EE03-7011-E776-EDB8683FAD79}"/>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2">
              <a:extLst>
                <a:ext uri="{FF2B5EF4-FFF2-40B4-BE49-F238E27FC236}">
                  <a16:creationId xmlns:a16="http://schemas.microsoft.com/office/drawing/2014/main" id="{3D2C626F-D36D-96FC-869E-FB813D8E80FE}"/>
                </a:ext>
              </a:extLst>
            </p:cNvPr>
            <p:cNvSpPr/>
            <p:nvPr/>
          </p:nvSpPr>
          <p:spPr>
            <a:xfrm rot="20561123">
              <a:off x="-4592411" y="-2584020"/>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grpSp>
      <p:grpSp>
        <p:nvGrpSpPr>
          <p:cNvPr id="3" name="Group 3"/>
          <p:cNvGrpSpPr/>
          <p:nvPr/>
        </p:nvGrpSpPr>
        <p:grpSpPr>
          <a:xfrm>
            <a:off x="-66617" y="703352"/>
            <a:ext cx="16298740" cy="9085947"/>
            <a:chOff x="-1789757" y="-1743856"/>
            <a:chExt cx="18680495" cy="12114590"/>
          </a:xfrm>
        </p:grpSpPr>
        <p:sp>
          <p:nvSpPr>
            <p:cNvPr id="4" name="TextBox 4"/>
            <p:cNvSpPr txBox="1"/>
            <p:nvPr/>
          </p:nvSpPr>
          <p:spPr>
            <a:xfrm>
              <a:off x="644645" y="368000"/>
              <a:ext cx="16246093" cy="10002734"/>
            </a:xfrm>
            <a:prstGeom prst="rect">
              <a:avLst/>
            </a:prstGeom>
          </p:spPr>
          <p:txBody>
            <a:bodyPr lIns="0" tIns="0" rIns="0" bIns="0" rtlCol="0" anchor="t">
              <a:spAutoFit/>
            </a:bodyPr>
            <a:lstStyle/>
            <a:p>
              <a:pPr marL="0" lvl="0" indent="0" algn="l">
                <a:lnSpc>
                  <a:spcPts val="3920"/>
                </a:lnSpc>
                <a:spcBef>
                  <a:spcPct val="0"/>
                </a:spcBef>
              </a:pPr>
              <a:endParaRPr lang="en-US" sz="2800" b="1" u="none" dirty="0">
                <a:solidFill>
                  <a:srgbClr val="2B2B2B"/>
                </a:solidFill>
                <a:latin typeface="Agrandir"/>
              </a:endParaRPr>
            </a:p>
            <a:p>
              <a:pPr marL="0" lvl="0" indent="0" algn="l">
                <a:lnSpc>
                  <a:spcPts val="3920"/>
                </a:lnSpc>
                <a:spcBef>
                  <a:spcPct val="0"/>
                </a:spcBef>
              </a:pPr>
              <a:r>
                <a:rPr lang="en-US" sz="2800" u="none" dirty="0">
                  <a:solidFill>
                    <a:srgbClr val="2B2B2B"/>
                  </a:solidFill>
                  <a:latin typeface="Agrandir"/>
                </a:rPr>
                <a:t>MOFA (Multi-Omics Factor Analysis) is a tool specifically designed for integrating multiple types of omics data, such as genomics, transcriptomics, proteomics, and metabolomics. It has several advantages over other tools:</a:t>
              </a:r>
            </a:p>
            <a:p>
              <a:pPr marL="0" lvl="0" indent="0" algn="l">
                <a:lnSpc>
                  <a:spcPts val="3920"/>
                </a:lnSpc>
                <a:spcBef>
                  <a:spcPct val="0"/>
                </a:spcBef>
              </a:pPr>
              <a:endParaRPr lang="en-US" sz="2800" u="none" dirty="0">
                <a:solidFill>
                  <a:srgbClr val="2B2B2B"/>
                </a:solidFill>
                <a:latin typeface="Agrandir"/>
              </a:endParaRPr>
            </a:p>
            <a:p>
              <a:pPr marL="457200" lvl="0" indent="-457200" algn="l">
                <a:lnSpc>
                  <a:spcPts val="3920"/>
                </a:lnSpc>
                <a:spcBef>
                  <a:spcPct val="0"/>
                </a:spcBef>
                <a:buFont typeface="Arial" panose="020B0604020202020204" pitchFamily="34" charset="0"/>
                <a:buChar char="•"/>
              </a:pPr>
              <a:r>
                <a:rPr lang="en-US" sz="2800" u="none" dirty="0">
                  <a:solidFill>
                    <a:srgbClr val="2B2B2B"/>
                  </a:solidFill>
                  <a:latin typeface="Agrandir"/>
                </a:rPr>
                <a:t> Integration: MOFA combines diverse omics datasets into a single model, capturing shared and distinct variation across datasets</a:t>
              </a:r>
            </a:p>
            <a:p>
              <a:pPr marL="457200" lvl="0" indent="-457200" algn="l">
                <a:lnSpc>
                  <a:spcPts val="3920"/>
                </a:lnSpc>
                <a:spcBef>
                  <a:spcPct val="0"/>
                </a:spcBef>
                <a:buFont typeface="Arial" panose="020B0604020202020204" pitchFamily="34" charset="0"/>
                <a:buChar char="•"/>
              </a:pPr>
              <a:r>
                <a:rPr lang="en-US" sz="2800" u="none" dirty="0">
                  <a:solidFill>
                    <a:srgbClr val="2B2B2B"/>
                  </a:solidFill>
                  <a:latin typeface="Agrandir"/>
                </a:rPr>
                <a:t>Flexibility: MOFA can handle different data sizes and handle missing values, making it suitable for various multi-omics experiments.</a:t>
              </a:r>
            </a:p>
            <a:p>
              <a:pPr marL="457200" lvl="0" indent="-457200" algn="l">
                <a:lnSpc>
                  <a:spcPts val="3920"/>
                </a:lnSpc>
                <a:spcBef>
                  <a:spcPct val="0"/>
                </a:spcBef>
                <a:buFont typeface="Arial" panose="020B0604020202020204" pitchFamily="34" charset="0"/>
                <a:buChar char="•"/>
              </a:pPr>
              <a:endParaRPr lang="en-US" sz="2800" u="none" dirty="0">
                <a:solidFill>
                  <a:srgbClr val="2B2B2B"/>
                </a:solidFill>
                <a:latin typeface="Agrandir"/>
              </a:endParaRPr>
            </a:p>
            <a:p>
              <a:pPr marL="457200" indent="-457200">
                <a:lnSpc>
                  <a:spcPts val="3920"/>
                </a:lnSpc>
                <a:spcBef>
                  <a:spcPct val="0"/>
                </a:spcBef>
                <a:buFont typeface="Arial" panose="020B0604020202020204" pitchFamily="34" charset="0"/>
                <a:buChar char="•"/>
              </a:pPr>
              <a:r>
                <a:rPr lang="en-US" sz="2800" dirty="0">
                  <a:solidFill>
                    <a:srgbClr val="2B2B2B"/>
                  </a:solidFill>
                  <a:latin typeface="Agrandir"/>
                </a:rPr>
                <a:t>Dimensionality reduction: MOFA reduces the dimensionality of integrated data to decrease the attributes of the data , </a:t>
              </a:r>
              <a:r>
                <a:rPr lang="en-US" sz="2800" b="1" dirty="0">
                  <a:solidFill>
                    <a:srgbClr val="2B2B2B"/>
                  </a:solidFill>
                  <a:latin typeface="Agrandir"/>
                </a:rPr>
                <a:t>can greatly enhance our understanding of biological systems when effectively integrated </a:t>
              </a:r>
              <a:r>
                <a:rPr lang="en-US" sz="2800" dirty="0">
                  <a:solidFill>
                    <a:srgbClr val="2B2B2B"/>
                  </a:solidFill>
                  <a:latin typeface="Agrandir"/>
                </a:rPr>
                <a:t>and identifying key factors that explain the variation across datasets.</a:t>
              </a:r>
            </a:p>
            <a:p>
              <a:pPr marL="457200" lvl="0" indent="-457200" algn="l">
                <a:lnSpc>
                  <a:spcPts val="3920"/>
                </a:lnSpc>
                <a:spcBef>
                  <a:spcPct val="0"/>
                </a:spcBef>
                <a:buFont typeface="Arial" panose="020B0604020202020204" pitchFamily="34" charset="0"/>
                <a:buChar char="•"/>
              </a:pPr>
              <a:endParaRPr lang="en-US" sz="2800" u="none" dirty="0">
                <a:solidFill>
                  <a:srgbClr val="2B2B2B"/>
                </a:solidFill>
                <a:latin typeface="Agrandir"/>
              </a:endParaRPr>
            </a:p>
          </p:txBody>
        </p:sp>
        <p:sp>
          <p:nvSpPr>
            <p:cNvPr id="5" name="TextBox 5"/>
            <p:cNvSpPr txBox="1"/>
            <p:nvPr/>
          </p:nvSpPr>
          <p:spPr>
            <a:xfrm>
              <a:off x="-1789757" y="-1743856"/>
              <a:ext cx="12560419"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Why we used MOFA</a:t>
              </a:r>
            </a:p>
          </p:txBody>
        </p:sp>
      </p:grpSp>
      <p:sp>
        <p:nvSpPr>
          <p:cNvPr id="8" name="TextBox 5">
            <a:extLst>
              <a:ext uri="{FF2B5EF4-FFF2-40B4-BE49-F238E27FC236}">
                <a16:creationId xmlns:a16="http://schemas.microsoft.com/office/drawing/2014/main" id="{F200FEA3-383C-1929-BA13-03B14D5FA3E3}"/>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E56DFF75-2028-489A-576C-033076F736C1}"/>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B2C2CBC7-DF27-CF68-A5B6-23B106AE729E}"/>
              </a:ext>
            </a:extLst>
          </p:cNvPr>
          <p:cNvGrpSpPr/>
          <p:nvPr/>
        </p:nvGrpSpPr>
        <p:grpSpPr>
          <a:xfrm>
            <a:off x="-4579931" y="-7714915"/>
            <a:ext cx="25126576" cy="22408629"/>
            <a:chOff x="-4579931" y="-7714915"/>
            <a:chExt cx="25126576" cy="22408629"/>
          </a:xfrm>
        </p:grpSpPr>
        <p:sp>
          <p:nvSpPr>
            <p:cNvPr id="10" name="Freeform 9">
              <a:extLst>
                <a:ext uri="{FF2B5EF4-FFF2-40B4-BE49-F238E27FC236}">
                  <a16:creationId xmlns:a16="http://schemas.microsoft.com/office/drawing/2014/main" id="{C12403FA-9CE9-EF27-B4BE-5038F95F0793}"/>
                </a:ext>
              </a:extLst>
            </p:cNvPr>
            <p:cNvSpPr/>
            <p:nvPr/>
          </p:nvSpPr>
          <p:spPr>
            <a:xfrm rot="319214">
              <a:off x="13595711" y="8656884"/>
              <a:ext cx="6950934" cy="4302824"/>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6">
              <a:extLst>
                <a:ext uri="{FF2B5EF4-FFF2-40B4-BE49-F238E27FC236}">
                  <a16:creationId xmlns:a16="http://schemas.microsoft.com/office/drawing/2014/main" id="{43233BFA-75EF-6CBC-0D82-0F9E6CABEE51}"/>
                </a:ext>
              </a:extLst>
            </p:cNvPr>
            <p:cNvSpPr/>
            <p:nvPr/>
          </p:nvSpPr>
          <p:spPr>
            <a:xfrm rot="20335330">
              <a:off x="6799619" y="-7714915"/>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73FFD9A8-1E76-502A-76DF-DBA994893E84}"/>
                </a:ext>
              </a:extLst>
            </p:cNvPr>
            <p:cNvSpPr/>
            <p:nvPr/>
          </p:nvSpPr>
          <p:spPr>
            <a:xfrm rot="20561123">
              <a:off x="-4579931" y="7738905"/>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grpSp>
      <p:grpSp>
        <p:nvGrpSpPr>
          <p:cNvPr id="3" name="Group 3">
            <a:extLst>
              <a:ext uri="{FF2B5EF4-FFF2-40B4-BE49-F238E27FC236}">
                <a16:creationId xmlns:a16="http://schemas.microsoft.com/office/drawing/2014/main" id="{0F1F1932-0590-D719-0E82-F2150E197EFB}"/>
              </a:ext>
            </a:extLst>
          </p:cNvPr>
          <p:cNvGrpSpPr/>
          <p:nvPr/>
        </p:nvGrpSpPr>
        <p:grpSpPr>
          <a:xfrm>
            <a:off x="-66617" y="703352"/>
            <a:ext cx="16222540" cy="7524032"/>
            <a:chOff x="-1789757" y="-1743856"/>
            <a:chExt cx="18593160" cy="10032042"/>
          </a:xfrm>
        </p:grpSpPr>
        <p:sp>
          <p:nvSpPr>
            <p:cNvPr id="4" name="TextBox 4">
              <a:extLst>
                <a:ext uri="{FF2B5EF4-FFF2-40B4-BE49-F238E27FC236}">
                  <a16:creationId xmlns:a16="http://schemas.microsoft.com/office/drawing/2014/main" id="{E9AFA0D6-B152-5364-AD4C-83D9DB152A96}"/>
                </a:ext>
              </a:extLst>
            </p:cNvPr>
            <p:cNvSpPr txBox="1"/>
            <p:nvPr/>
          </p:nvSpPr>
          <p:spPr>
            <a:xfrm>
              <a:off x="557310" y="952845"/>
              <a:ext cx="16246093" cy="7335341"/>
            </a:xfrm>
            <a:prstGeom prst="rect">
              <a:avLst/>
            </a:prstGeom>
          </p:spPr>
          <p:txBody>
            <a:bodyPr lIns="0" tIns="0" rIns="0" bIns="0" rtlCol="0" anchor="t">
              <a:spAutoFit/>
            </a:bodyPr>
            <a:lstStyle/>
            <a:p>
              <a:pPr>
                <a:lnSpc>
                  <a:spcPts val="3920"/>
                </a:lnSpc>
                <a:spcBef>
                  <a:spcPct val="0"/>
                </a:spcBef>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 Visualization: MOFA provides interactive visualization tools to explore and interpret integrated data, helping identify patterns and relationships between datasets.</a:t>
              </a:r>
            </a:p>
            <a:p>
              <a:pPr marR="0" lvl="0" algn="l"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Statistical modeling: MOFA incorporates statistical modeling for hypothesis testing and assessing the significance of patterns, enabling the discovery of biomarkers or predictive models.</a:t>
              </a:r>
            </a:p>
            <a:p>
              <a:pPr lvl="1">
                <a:lnSpc>
                  <a:spcPts val="3920"/>
                </a:lnSpc>
                <a:spcBef>
                  <a:spcPct val="0"/>
                </a:spcBef>
                <a:defRPr/>
              </a:pPr>
              <a:endParaRPr lang="en-US" sz="2800" dirty="0">
                <a:solidFill>
                  <a:srgbClr val="2B2B2B"/>
                </a:solidFill>
                <a:latin typeface="Agrandir"/>
              </a:endParaRPr>
            </a:p>
            <a:p>
              <a:pPr marL="457200" indent="-457200">
                <a:lnSpc>
                  <a:spcPts val="3920"/>
                </a:lnSpc>
                <a:spcBef>
                  <a:spcPct val="0"/>
                </a:spcBef>
                <a:buFont typeface="Arial" panose="020B0604020202020204" pitchFamily="34" charset="0"/>
                <a:buChar char="•"/>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User-friendly: MOFA offers a user-friendly interface with tutorials, making it accessible to researchers with different computational expertise.</a:t>
              </a:r>
            </a:p>
          </p:txBody>
        </p:sp>
        <p:sp>
          <p:nvSpPr>
            <p:cNvPr id="5" name="TextBox 5">
              <a:extLst>
                <a:ext uri="{FF2B5EF4-FFF2-40B4-BE49-F238E27FC236}">
                  <a16:creationId xmlns:a16="http://schemas.microsoft.com/office/drawing/2014/main" id="{CEC2A6F0-FF59-F4FB-5DAA-E61CE8E40CF5}"/>
                </a:ext>
              </a:extLst>
            </p:cNvPr>
            <p:cNvSpPr txBox="1"/>
            <p:nvPr/>
          </p:nvSpPr>
          <p:spPr>
            <a:xfrm>
              <a:off x="-1789757" y="-1743856"/>
              <a:ext cx="12560419"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Why we used MOFA</a:t>
              </a:r>
            </a:p>
          </p:txBody>
        </p:sp>
      </p:grpSp>
      <p:sp>
        <p:nvSpPr>
          <p:cNvPr id="8" name="TextBox 5">
            <a:extLst>
              <a:ext uri="{FF2B5EF4-FFF2-40B4-BE49-F238E27FC236}">
                <a16:creationId xmlns:a16="http://schemas.microsoft.com/office/drawing/2014/main" id="{084785A9-5E37-DD9C-EC92-AFF2015375C3}"/>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268720006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BF7"/>
        </a:solidFill>
        <a:effectLst/>
      </p:bgPr>
    </p:bg>
    <p:spTree>
      <p:nvGrpSpPr>
        <p:cNvPr id="1" name="">
          <a:extLst>
            <a:ext uri="{FF2B5EF4-FFF2-40B4-BE49-F238E27FC236}">
              <a16:creationId xmlns:a16="http://schemas.microsoft.com/office/drawing/2014/main" id="{3099ACDD-5800-9E48-4AC1-5555059EB4D2}"/>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1024EFCF-AFD9-0B74-F48B-FB6C38169FA1}"/>
              </a:ext>
            </a:extLst>
          </p:cNvPr>
          <p:cNvGrpSpPr/>
          <p:nvPr/>
        </p:nvGrpSpPr>
        <p:grpSpPr>
          <a:xfrm>
            <a:off x="-4592411" y="-2584020"/>
            <a:ext cx="25131077" cy="15444838"/>
            <a:chOff x="-4592411" y="-2584020"/>
            <a:chExt cx="25131077" cy="15444838"/>
          </a:xfrm>
        </p:grpSpPr>
        <p:sp>
          <p:nvSpPr>
            <p:cNvPr id="14" name="Freeform 9">
              <a:extLst>
                <a:ext uri="{FF2B5EF4-FFF2-40B4-BE49-F238E27FC236}">
                  <a16:creationId xmlns:a16="http://schemas.microsoft.com/office/drawing/2014/main" id="{C5103366-053E-5DD4-EE62-20CA148D0075}"/>
                </a:ext>
              </a:extLst>
            </p:cNvPr>
            <p:cNvSpPr/>
            <p:nvPr/>
          </p:nvSpPr>
          <p:spPr>
            <a:xfrm rot="319214">
              <a:off x="13587732" y="-1529710"/>
              <a:ext cx="6950934" cy="4302824"/>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6">
              <a:extLst>
                <a:ext uri="{FF2B5EF4-FFF2-40B4-BE49-F238E27FC236}">
                  <a16:creationId xmlns:a16="http://schemas.microsoft.com/office/drawing/2014/main" id="{0D8DDC33-4D22-0C32-1763-8492F6BC4240}"/>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2">
              <a:extLst>
                <a:ext uri="{FF2B5EF4-FFF2-40B4-BE49-F238E27FC236}">
                  <a16:creationId xmlns:a16="http://schemas.microsoft.com/office/drawing/2014/main" id="{5798EDF4-4079-668A-9018-45F885AE9A14}"/>
                </a:ext>
              </a:extLst>
            </p:cNvPr>
            <p:cNvSpPr/>
            <p:nvPr/>
          </p:nvSpPr>
          <p:spPr>
            <a:xfrm rot="20561123">
              <a:off x="-4592411" y="-2584020"/>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grpSp>
      <p:grpSp>
        <p:nvGrpSpPr>
          <p:cNvPr id="3" name="Group 3">
            <a:extLst>
              <a:ext uri="{FF2B5EF4-FFF2-40B4-BE49-F238E27FC236}">
                <a16:creationId xmlns:a16="http://schemas.microsoft.com/office/drawing/2014/main" id="{D3409F17-0E45-FC69-BB46-4F5B8F52AE5C}"/>
              </a:ext>
            </a:extLst>
          </p:cNvPr>
          <p:cNvGrpSpPr/>
          <p:nvPr/>
        </p:nvGrpSpPr>
        <p:grpSpPr>
          <a:xfrm>
            <a:off x="-66617" y="703352"/>
            <a:ext cx="16297978" cy="6568907"/>
            <a:chOff x="-1789757" y="-1743856"/>
            <a:chExt cx="18679622" cy="8758541"/>
          </a:xfrm>
        </p:grpSpPr>
        <p:sp>
          <p:nvSpPr>
            <p:cNvPr id="4" name="TextBox 4">
              <a:extLst>
                <a:ext uri="{FF2B5EF4-FFF2-40B4-BE49-F238E27FC236}">
                  <a16:creationId xmlns:a16="http://schemas.microsoft.com/office/drawing/2014/main" id="{6B8D1EA4-C1DA-FFEA-C0CE-1AC08A4937CB}"/>
                </a:ext>
              </a:extLst>
            </p:cNvPr>
            <p:cNvSpPr txBox="1"/>
            <p:nvPr/>
          </p:nvSpPr>
          <p:spPr>
            <a:xfrm>
              <a:off x="643772" y="2384871"/>
              <a:ext cx="16246093" cy="4629814"/>
            </a:xfrm>
            <a:prstGeom prst="rect">
              <a:avLst/>
            </a:prstGeom>
          </p:spPr>
          <p:txBody>
            <a:bodyPr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Acute myelogenous leukemia (AML) is a cancer of the blood and bone marrow — the spongy tissue inside bones where blood cells are made. The word "acute" in acute myelogenous leukemia denotes the disease's rapid progression. It's called myelogenous (my-uh-LOHJ-uh-nus) leukemia because it affects a group of white blood cells called the myeloid cells.</a:t>
              </a:r>
            </a:p>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 we applied MOFA to a cohort of 200 patient samples of Acute Myeloid Leukemia (AML) that were profiled for miRNA, RNA-seq, and DNA methylation.</a:t>
              </a:r>
            </a:p>
          </p:txBody>
        </p:sp>
        <p:sp>
          <p:nvSpPr>
            <p:cNvPr id="5" name="TextBox 5">
              <a:extLst>
                <a:ext uri="{FF2B5EF4-FFF2-40B4-BE49-F238E27FC236}">
                  <a16:creationId xmlns:a16="http://schemas.microsoft.com/office/drawing/2014/main" id="{AFFBF6DC-9DB5-17DD-6BDB-D441F843ECC9}"/>
                </a:ext>
              </a:extLst>
            </p:cNvPr>
            <p:cNvSpPr txBox="1"/>
            <p:nvPr/>
          </p:nvSpPr>
          <p:spPr>
            <a:xfrm>
              <a:off x="-1789757" y="-1743856"/>
              <a:ext cx="13787979"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Acute myeloid leukemia</a:t>
              </a:r>
            </a:p>
          </p:txBody>
        </p:sp>
      </p:grpSp>
      <p:sp>
        <p:nvSpPr>
          <p:cNvPr id="8" name="TextBox 5">
            <a:extLst>
              <a:ext uri="{FF2B5EF4-FFF2-40B4-BE49-F238E27FC236}">
                <a16:creationId xmlns:a16="http://schemas.microsoft.com/office/drawing/2014/main" id="{AEE8E352-C2DE-E44B-1CE4-D6E118FAC528}"/>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28366583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3FBD625E-677D-2CDF-6EF2-3588BD67CA6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075A2CC-C42F-AC5E-D48C-710E5CC5809A}"/>
              </a:ext>
            </a:extLst>
          </p:cNvPr>
          <p:cNvGrpSpPr/>
          <p:nvPr/>
        </p:nvGrpSpPr>
        <p:grpSpPr>
          <a:xfrm>
            <a:off x="-4579931" y="-7714915"/>
            <a:ext cx="25126576" cy="22408629"/>
            <a:chOff x="-4579931" y="-7714915"/>
            <a:chExt cx="25126576" cy="22408629"/>
          </a:xfrm>
        </p:grpSpPr>
        <p:sp>
          <p:nvSpPr>
            <p:cNvPr id="6" name="Freeform 9">
              <a:extLst>
                <a:ext uri="{FF2B5EF4-FFF2-40B4-BE49-F238E27FC236}">
                  <a16:creationId xmlns:a16="http://schemas.microsoft.com/office/drawing/2014/main" id="{E0406ADC-9275-36FD-2B1A-D33700147BF2}"/>
                </a:ext>
              </a:extLst>
            </p:cNvPr>
            <p:cNvSpPr/>
            <p:nvPr/>
          </p:nvSpPr>
          <p:spPr>
            <a:xfrm rot="319214">
              <a:off x="13595711" y="8656884"/>
              <a:ext cx="6950934" cy="4302824"/>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6">
              <a:extLst>
                <a:ext uri="{FF2B5EF4-FFF2-40B4-BE49-F238E27FC236}">
                  <a16:creationId xmlns:a16="http://schemas.microsoft.com/office/drawing/2014/main" id="{D522D625-631A-48D2-D958-C5AF4E65E33C}"/>
                </a:ext>
              </a:extLst>
            </p:cNvPr>
            <p:cNvSpPr/>
            <p:nvPr/>
          </p:nvSpPr>
          <p:spPr>
            <a:xfrm rot="20335330">
              <a:off x="6799619" y="-7714915"/>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2">
              <a:extLst>
                <a:ext uri="{FF2B5EF4-FFF2-40B4-BE49-F238E27FC236}">
                  <a16:creationId xmlns:a16="http://schemas.microsoft.com/office/drawing/2014/main" id="{0FAFA6AA-EAAE-C37B-CDC8-C845A203FB16}"/>
                </a:ext>
              </a:extLst>
            </p:cNvPr>
            <p:cNvSpPr/>
            <p:nvPr/>
          </p:nvSpPr>
          <p:spPr>
            <a:xfrm rot="20561123">
              <a:off x="-4579931" y="7738905"/>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grpSp>
      <p:grpSp>
        <p:nvGrpSpPr>
          <p:cNvPr id="3" name="Group 3">
            <a:extLst>
              <a:ext uri="{FF2B5EF4-FFF2-40B4-BE49-F238E27FC236}">
                <a16:creationId xmlns:a16="http://schemas.microsoft.com/office/drawing/2014/main" id="{E0CBB030-FB80-32AC-AB67-6CB1CE886926}"/>
              </a:ext>
            </a:extLst>
          </p:cNvPr>
          <p:cNvGrpSpPr/>
          <p:nvPr/>
        </p:nvGrpSpPr>
        <p:grpSpPr>
          <a:xfrm>
            <a:off x="-245872" y="580745"/>
            <a:ext cx="11500618" cy="8688382"/>
            <a:chOff x="-1907871" y="-1532639"/>
            <a:chExt cx="13181218" cy="11359214"/>
          </a:xfrm>
        </p:grpSpPr>
        <p:sp>
          <p:nvSpPr>
            <p:cNvPr id="4" name="TextBox 4">
              <a:extLst>
                <a:ext uri="{FF2B5EF4-FFF2-40B4-BE49-F238E27FC236}">
                  <a16:creationId xmlns:a16="http://schemas.microsoft.com/office/drawing/2014/main" id="{18F9E7DA-519A-4791-7923-5ECADA2C165D}"/>
                </a:ext>
              </a:extLst>
            </p:cNvPr>
            <p:cNvSpPr txBox="1"/>
            <p:nvPr/>
          </p:nvSpPr>
          <p:spPr>
            <a:xfrm>
              <a:off x="-1474394" y="709639"/>
              <a:ext cx="12314264" cy="9116936"/>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i="0" u="none" strike="noStrike" kern="1200" cap="none" spc="0" normalizeH="0" baseline="0" noProof="0" dirty="0">
                  <a:ln>
                    <a:noFill/>
                  </a:ln>
                  <a:solidFill>
                    <a:srgbClr val="2B2B2B"/>
                  </a:solidFill>
                  <a:effectLst/>
                  <a:uLnTx/>
                  <a:uFillTx/>
                  <a:latin typeface="Agrandir"/>
                  <a:ea typeface="+mn-ea"/>
                  <a:cs typeface="+mn-cs"/>
                </a:rPr>
                <a:t>We got the data of AML samples  from TCGA (Linked </a:t>
              </a:r>
              <a:r>
                <a:rPr kumimoji="0" lang="en-US" sz="2800" i="0" u="none" strike="noStrike" kern="1200" cap="none" spc="0" normalizeH="0" baseline="0" noProof="0" dirty="0" err="1">
                  <a:ln>
                    <a:noFill/>
                  </a:ln>
                  <a:solidFill>
                    <a:srgbClr val="2B2B2B"/>
                  </a:solidFill>
                  <a:effectLst/>
                  <a:uLnTx/>
                  <a:uFillTx/>
                  <a:latin typeface="Agrandir"/>
                  <a:ea typeface="+mn-ea"/>
                  <a:cs typeface="+mn-cs"/>
                </a:rPr>
                <a:t>omics</a:t>
              </a:r>
              <a:r>
                <a:rPr kumimoji="0" lang="en-US" sz="2800" i="0" u="none" strike="noStrike" kern="1200" cap="none" spc="0" normalizeH="0" baseline="0" noProof="0" dirty="0">
                  <a:ln>
                    <a:noFill/>
                  </a:ln>
                  <a:solidFill>
                    <a:srgbClr val="2B2B2B"/>
                  </a:solidFill>
                  <a:effectLst/>
                  <a:uLnTx/>
                  <a:uFillTx/>
                  <a:latin typeface="Agrandir"/>
                  <a:ea typeface="+mn-ea"/>
                  <a:cs typeface="+mn-cs"/>
                </a:rPr>
                <a:t>).</a:t>
              </a:r>
            </a:p>
            <a:p>
              <a:pPr marR="0" lvl="0" algn="ctr" defTabSz="914400" rtl="0" eaLnBrk="1" fontAlgn="auto" latinLnBrk="0" hangingPunct="1">
                <a:lnSpc>
                  <a:spcPts val="3920"/>
                </a:lnSpc>
                <a:spcBef>
                  <a:spcPct val="0"/>
                </a:spcBef>
                <a:spcAft>
                  <a:spcPts val="0"/>
                </a:spcAft>
                <a:buClrTx/>
                <a:buSzTx/>
                <a:tabLst/>
                <a:defRPr/>
              </a:pPr>
              <a:r>
                <a:rPr kumimoji="0" lang="en-US" sz="2800" i="0" u="none" strike="noStrike" kern="1200" cap="none" spc="0" normalizeH="0" baseline="0" noProof="0" dirty="0">
                  <a:ln>
                    <a:noFill/>
                  </a:ln>
                  <a:solidFill>
                    <a:srgbClr val="2B2B2B"/>
                  </a:solidFill>
                  <a:effectLst/>
                  <a:uLnTx/>
                  <a:uFillTx/>
                  <a:latin typeface="Agrandir"/>
                  <a:ea typeface="+mn-ea"/>
                  <a:cs typeface="+mn-cs"/>
                </a:rPr>
                <a:t>We applied MOFA on this data by coding in R language and used DNA methylation, RNA-</a:t>
              </a:r>
              <a:r>
                <a:rPr kumimoji="0" lang="en-US" sz="2800" i="0" u="none" strike="noStrike" kern="1200" cap="none" spc="0" normalizeH="0" baseline="0" noProof="0" dirty="0" err="1">
                  <a:ln>
                    <a:noFill/>
                  </a:ln>
                  <a:solidFill>
                    <a:srgbClr val="2B2B2B"/>
                  </a:solidFill>
                  <a:effectLst/>
                  <a:uLnTx/>
                  <a:uFillTx/>
                  <a:latin typeface="Agrandir"/>
                  <a:ea typeface="+mn-ea"/>
                  <a:cs typeface="+mn-cs"/>
                </a:rPr>
                <a:t>seq</a:t>
              </a:r>
              <a:r>
                <a:rPr kumimoji="0" lang="en-US" sz="2800" i="0" u="none" strike="noStrike" kern="1200" cap="none" spc="0" normalizeH="0" noProof="0" dirty="0">
                  <a:ln>
                    <a:noFill/>
                  </a:ln>
                  <a:solidFill>
                    <a:srgbClr val="2B2B2B"/>
                  </a:solidFill>
                  <a:effectLst/>
                  <a:uLnTx/>
                  <a:uFillTx/>
                  <a:latin typeface="Agrandir"/>
                  <a:ea typeface="+mn-ea"/>
                  <a:cs typeface="+mn-cs"/>
                </a:rPr>
                <a:t> and micro RNA as views </a:t>
              </a:r>
              <a:r>
                <a:rPr kumimoji="0" lang="en-US" sz="2800" i="0" u="none" strike="noStrike" kern="1200" cap="none" spc="0" normalizeH="0" baseline="0" noProof="0" dirty="0">
                  <a:ln>
                    <a:noFill/>
                  </a:ln>
                  <a:solidFill>
                    <a:srgbClr val="2B2B2B"/>
                  </a:solidFill>
                  <a:effectLst/>
                  <a:uLnTx/>
                  <a:uFillTx/>
                  <a:latin typeface="Agrandir"/>
                  <a:ea typeface="+mn-ea"/>
                  <a:cs typeface="+mn-cs"/>
                </a:rPr>
                <a:t> .</a:t>
              </a:r>
            </a:p>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In AML ,MOFA discovers a low dimensional space spanned by known clinical markers and underappreciated axes of variation such as oxidative stress.</a:t>
              </a:r>
            </a:p>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Researchers used MOFA to study Acute Myeloid Leukemia (AML) by combining clinical data like age and gender with genetic information. MOFA effectively handled different types of data, identifying shared and specific factors across them. It outperformed other methods in consistent factor identification, making it reliable for complex analyses. This integrated approach with diverse datasets ensured reliable comparisons and robust findings in the study of AML.</a:t>
              </a:r>
            </a:p>
          </p:txBody>
        </p:sp>
        <p:sp>
          <p:nvSpPr>
            <p:cNvPr id="5" name="TextBox 5">
              <a:extLst>
                <a:ext uri="{FF2B5EF4-FFF2-40B4-BE49-F238E27FC236}">
                  <a16:creationId xmlns:a16="http://schemas.microsoft.com/office/drawing/2014/main" id="{ADC8ED53-9CFA-0BC9-BC7C-BFCEAB89F1C9}"/>
                </a:ext>
              </a:extLst>
            </p:cNvPr>
            <p:cNvSpPr txBox="1"/>
            <p:nvPr/>
          </p:nvSpPr>
          <p:spPr>
            <a:xfrm>
              <a:off x="-1907871" y="-1532639"/>
              <a:ext cx="13181218" cy="1398672"/>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Applying MOFA on AML</a:t>
              </a:r>
            </a:p>
          </p:txBody>
        </p:sp>
      </p:grpSp>
      <p:pic>
        <p:nvPicPr>
          <p:cNvPr id="9" name="Google Shape;105;p21">
            <a:extLst>
              <a:ext uri="{FF2B5EF4-FFF2-40B4-BE49-F238E27FC236}">
                <a16:creationId xmlns:a16="http://schemas.microsoft.com/office/drawing/2014/main" id="{B0036738-F887-F883-92F2-701CEEECA7EA}"/>
              </a:ext>
            </a:extLst>
          </p:cNvPr>
          <p:cNvPicPr preferRelativeResize="0"/>
          <p:nvPr/>
        </p:nvPicPr>
        <p:blipFill rotWithShape="1">
          <a:blip r:embed="rId8">
            <a:alphaModFix/>
          </a:blip>
          <a:srcRect t="195" b="-1"/>
          <a:stretch/>
        </p:blipFill>
        <p:spPr>
          <a:xfrm>
            <a:off x="10939111" y="2934940"/>
            <a:ext cx="7153976" cy="5562599"/>
          </a:xfrm>
          <a:prstGeom prst="rect">
            <a:avLst/>
          </a:prstGeom>
          <a:noFill/>
          <a:ln>
            <a:noFill/>
          </a:ln>
        </p:spPr>
      </p:pic>
      <p:grpSp>
        <p:nvGrpSpPr>
          <p:cNvPr id="17" name="Group 16">
            <a:extLst>
              <a:ext uri="{FF2B5EF4-FFF2-40B4-BE49-F238E27FC236}">
                <a16:creationId xmlns:a16="http://schemas.microsoft.com/office/drawing/2014/main" id="{A7908605-C787-B402-44C6-BDB02F8518F7}"/>
              </a:ext>
            </a:extLst>
          </p:cNvPr>
          <p:cNvGrpSpPr/>
          <p:nvPr/>
        </p:nvGrpSpPr>
        <p:grpSpPr>
          <a:xfrm>
            <a:off x="11814121" y="2295808"/>
            <a:ext cx="5403957" cy="6838383"/>
            <a:chOff x="11814121" y="2295808"/>
            <a:chExt cx="5403957" cy="6838383"/>
          </a:xfrm>
        </p:grpSpPr>
        <p:sp>
          <p:nvSpPr>
            <p:cNvPr id="15" name="TextBox 4">
              <a:extLst>
                <a:ext uri="{FF2B5EF4-FFF2-40B4-BE49-F238E27FC236}">
                  <a16:creationId xmlns:a16="http://schemas.microsoft.com/office/drawing/2014/main" id="{544F17E3-18A1-8B5B-1D29-A4DC11B3B390}"/>
                </a:ext>
              </a:extLst>
            </p:cNvPr>
            <p:cNvSpPr txBox="1"/>
            <p:nvPr/>
          </p:nvSpPr>
          <p:spPr>
            <a:xfrm>
              <a:off x="11814121" y="2295808"/>
              <a:ext cx="5403957"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Omics types (data types)</a:t>
              </a:r>
            </a:p>
          </p:txBody>
        </p:sp>
        <p:sp>
          <p:nvSpPr>
            <p:cNvPr id="16" name="TextBox 4">
              <a:extLst>
                <a:ext uri="{FF2B5EF4-FFF2-40B4-BE49-F238E27FC236}">
                  <a16:creationId xmlns:a16="http://schemas.microsoft.com/office/drawing/2014/main" id="{51CC4B51-4230-C519-92DF-D9FB85677EF5}"/>
                </a:ext>
              </a:extLst>
            </p:cNvPr>
            <p:cNvSpPr txBox="1"/>
            <p:nvPr/>
          </p:nvSpPr>
          <p:spPr>
            <a:xfrm>
              <a:off x="13182599" y="8662652"/>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2</a:t>
              </a:r>
            </a:p>
          </p:txBody>
        </p:sp>
      </p:grpSp>
      <p:sp>
        <p:nvSpPr>
          <p:cNvPr id="10" name="TextBox 5">
            <a:extLst>
              <a:ext uri="{FF2B5EF4-FFF2-40B4-BE49-F238E27FC236}">
                <a16:creationId xmlns:a16="http://schemas.microsoft.com/office/drawing/2014/main" id="{DB60EA38-FBA5-8E0D-B909-ACA586A2D4C1}"/>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37264738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F3ACFBFF-E58B-9247-B6E5-2E6C0B004C0C}"/>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E5635891-9E99-E339-65F4-FE8F79424C03}"/>
              </a:ext>
            </a:extLst>
          </p:cNvPr>
          <p:cNvGrpSpPr/>
          <p:nvPr/>
        </p:nvGrpSpPr>
        <p:grpSpPr>
          <a:xfrm>
            <a:off x="-4592411" y="-2584020"/>
            <a:ext cx="25131077" cy="15444838"/>
            <a:chOff x="-4592411" y="-2584020"/>
            <a:chExt cx="25131077" cy="15444838"/>
          </a:xfrm>
        </p:grpSpPr>
        <p:sp>
          <p:nvSpPr>
            <p:cNvPr id="11" name="Freeform 9">
              <a:extLst>
                <a:ext uri="{FF2B5EF4-FFF2-40B4-BE49-F238E27FC236}">
                  <a16:creationId xmlns:a16="http://schemas.microsoft.com/office/drawing/2014/main" id="{28C90D3E-6EAC-B0DA-6BFD-3F88E0099E9B}"/>
                </a:ext>
              </a:extLst>
            </p:cNvPr>
            <p:cNvSpPr/>
            <p:nvPr/>
          </p:nvSpPr>
          <p:spPr>
            <a:xfrm rot="319214">
              <a:off x="13587732" y="-1529710"/>
              <a:ext cx="6950934" cy="4302824"/>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6">
              <a:extLst>
                <a:ext uri="{FF2B5EF4-FFF2-40B4-BE49-F238E27FC236}">
                  <a16:creationId xmlns:a16="http://schemas.microsoft.com/office/drawing/2014/main" id="{110CA670-4C06-04E6-9736-89FDB6DCC0C7}"/>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2">
              <a:extLst>
                <a:ext uri="{FF2B5EF4-FFF2-40B4-BE49-F238E27FC236}">
                  <a16:creationId xmlns:a16="http://schemas.microsoft.com/office/drawing/2014/main" id="{BE0222CC-18DE-5ED3-563D-C09384AB4528}"/>
                </a:ext>
              </a:extLst>
            </p:cNvPr>
            <p:cNvSpPr/>
            <p:nvPr/>
          </p:nvSpPr>
          <p:spPr>
            <a:xfrm rot="20561123">
              <a:off x="-4592411" y="-2584020"/>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grpSp>
      <p:grpSp>
        <p:nvGrpSpPr>
          <p:cNvPr id="3" name="Group 3">
            <a:extLst>
              <a:ext uri="{FF2B5EF4-FFF2-40B4-BE49-F238E27FC236}">
                <a16:creationId xmlns:a16="http://schemas.microsoft.com/office/drawing/2014/main" id="{9CF4DA96-4FE8-2DBB-76D2-02594F51FB7E}"/>
              </a:ext>
            </a:extLst>
          </p:cNvPr>
          <p:cNvGrpSpPr/>
          <p:nvPr/>
        </p:nvGrpSpPr>
        <p:grpSpPr>
          <a:xfrm>
            <a:off x="-66617" y="703352"/>
            <a:ext cx="10958971" cy="8198728"/>
            <a:chOff x="-1789757" y="-1743856"/>
            <a:chExt cx="12560419" cy="10931637"/>
          </a:xfrm>
        </p:grpSpPr>
        <p:sp>
          <p:nvSpPr>
            <p:cNvPr id="4" name="TextBox 4">
              <a:extLst>
                <a:ext uri="{FF2B5EF4-FFF2-40B4-BE49-F238E27FC236}">
                  <a16:creationId xmlns:a16="http://schemas.microsoft.com/office/drawing/2014/main" id="{A2F6EA5E-ACB3-6B8F-9C41-E9C3AE4B7681}"/>
                </a:ext>
              </a:extLst>
            </p:cNvPr>
            <p:cNvSpPr txBox="1"/>
            <p:nvPr/>
          </p:nvSpPr>
          <p:spPr>
            <a:xfrm>
              <a:off x="-539919" y="518741"/>
              <a:ext cx="9972840" cy="8669040"/>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Here, we have broken down variances by omics type factor. </a:t>
              </a:r>
            </a:p>
            <a:p>
              <a:pPr marR="0" lvl="0" algn="l"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 We discovered that Factor 1 exhibits significant variation in DNA methylation modalities.</a:t>
              </a:r>
            </a:p>
            <a:p>
              <a:pPr marL="0" marR="0" lvl="0" indent="0" algn="l" defTabSz="914400" rtl="0" eaLnBrk="1" fontAlgn="auto" latinLnBrk="0" hangingPunct="1">
                <a:lnSpc>
                  <a:spcPts val="3920"/>
                </a:lnSpc>
                <a:spcBef>
                  <a:spcPct val="0"/>
                </a:spcBef>
                <a:spcAft>
                  <a:spcPts val="0"/>
                </a:spcAft>
                <a:buClrTx/>
                <a:buSzTx/>
                <a:buFontTx/>
                <a:buNone/>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Factor 2's RNA-Seq variance is moderate(medium).</a:t>
              </a:r>
            </a:p>
            <a:p>
              <a:pPr marL="457200" marR="0" lvl="1" indent="0" algn="l" defTabSz="914400" rtl="0" eaLnBrk="1" fontAlgn="auto" latinLnBrk="0" hangingPunct="1">
                <a:lnSpc>
                  <a:spcPts val="3920"/>
                </a:lnSpc>
                <a:spcBef>
                  <a:spcPct val="0"/>
                </a:spcBef>
                <a:spcAft>
                  <a:spcPts val="0"/>
                </a:spcAft>
                <a:buClrTx/>
                <a:buSzTx/>
                <a:buFontTx/>
                <a:buNone/>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lang="en-US" sz="2800" dirty="0">
                  <a:solidFill>
                    <a:srgbClr val="2B2B2B"/>
                  </a:solidFill>
                  <a:latin typeface="Agrandir"/>
                </a:rPr>
                <a:t>F</a:t>
              </a:r>
              <a:r>
                <a:rPr kumimoji="0" lang="en-US" sz="2800" b="0" i="0" u="none" strike="noStrike" kern="1200" cap="none" spc="0" normalizeH="0" baseline="0" noProof="0" dirty="0">
                  <a:ln>
                    <a:noFill/>
                  </a:ln>
                  <a:solidFill>
                    <a:srgbClr val="2B2B2B"/>
                  </a:solidFill>
                  <a:effectLst/>
                  <a:uLnTx/>
                  <a:uFillTx/>
                  <a:latin typeface="Agrandir"/>
                  <a:ea typeface="+mn-ea"/>
                  <a:cs typeface="+mn-cs"/>
                </a:rPr>
                <a:t>actor 3 in RNA-seq and </a:t>
              </a:r>
              <a:r>
                <a:rPr kumimoji="0" lang="en-US" sz="2800" b="0" i="0" u="none" strike="noStrike" kern="1200" cap="none" spc="0" normalizeH="0" baseline="0" noProof="0" dirty="0" err="1">
                  <a:ln>
                    <a:noFill/>
                  </a:ln>
                  <a:solidFill>
                    <a:srgbClr val="2B2B2B"/>
                  </a:solidFill>
                  <a:effectLst/>
                  <a:uLnTx/>
                  <a:uFillTx/>
                  <a:latin typeface="Agrandir"/>
                  <a:ea typeface="+mn-ea"/>
                  <a:cs typeface="+mn-cs"/>
                </a:rPr>
                <a:t>mirna</a:t>
              </a:r>
              <a:r>
                <a:rPr kumimoji="0" lang="en-US" sz="2800" b="0" i="0" u="none" strike="noStrike" kern="1200" cap="none" spc="0" normalizeH="0" baseline="0" noProof="0" dirty="0">
                  <a:ln>
                    <a:noFill/>
                  </a:ln>
                  <a:solidFill>
                    <a:srgbClr val="2B2B2B"/>
                  </a:solidFill>
                  <a:effectLst/>
                  <a:uLnTx/>
                  <a:uFillTx/>
                  <a:latin typeface="Agrandir"/>
                  <a:ea typeface="+mn-ea"/>
                  <a:cs typeface="+mn-cs"/>
                </a:rPr>
                <a:t> are very similar. Because the variations of other components are expressed worse, we disregarded them.</a:t>
              </a:r>
            </a:p>
          </p:txBody>
        </p:sp>
        <p:sp>
          <p:nvSpPr>
            <p:cNvPr id="5" name="TextBox 5">
              <a:extLst>
                <a:ext uri="{FF2B5EF4-FFF2-40B4-BE49-F238E27FC236}">
                  <a16:creationId xmlns:a16="http://schemas.microsoft.com/office/drawing/2014/main" id="{0FAD239A-6830-CA0F-FFA6-1565BBCD77DF}"/>
                </a:ext>
              </a:extLst>
            </p:cNvPr>
            <p:cNvSpPr txBox="1"/>
            <p:nvPr/>
          </p:nvSpPr>
          <p:spPr>
            <a:xfrm>
              <a:off x="-1789757" y="-1743856"/>
              <a:ext cx="12560419"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Knowing our variances</a:t>
              </a:r>
            </a:p>
          </p:txBody>
        </p:sp>
      </p:grpSp>
      <p:sp>
        <p:nvSpPr>
          <p:cNvPr id="8" name="TextBox 5">
            <a:extLst>
              <a:ext uri="{FF2B5EF4-FFF2-40B4-BE49-F238E27FC236}">
                <a16:creationId xmlns:a16="http://schemas.microsoft.com/office/drawing/2014/main" id="{B46E8023-B491-A16E-38DE-693B5F408ECA}"/>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9" name="Picture 8">
            <a:extLst>
              <a:ext uri="{FF2B5EF4-FFF2-40B4-BE49-F238E27FC236}">
                <a16:creationId xmlns:a16="http://schemas.microsoft.com/office/drawing/2014/main" id="{07B73E8A-8235-4757-0CEF-4E3A3CDB17E7}"/>
              </a:ext>
            </a:extLst>
          </p:cNvPr>
          <p:cNvPicPr>
            <a:picLocks noChangeAspect="1"/>
          </p:cNvPicPr>
          <p:nvPr/>
        </p:nvPicPr>
        <p:blipFill rotWithShape="1">
          <a:blip r:embed="rId8"/>
          <a:srcRect b="9315"/>
          <a:stretch/>
        </p:blipFill>
        <p:spPr>
          <a:xfrm>
            <a:off x="10583218" y="1959702"/>
            <a:ext cx="7141401" cy="7089768"/>
          </a:xfrm>
          <a:prstGeom prst="rect">
            <a:avLst/>
          </a:prstGeom>
        </p:spPr>
      </p:pic>
      <p:grpSp>
        <p:nvGrpSpPr>
          <p:cNvPr id="2" name="Group 1">
            <a:extLst>
              <a:ext uri="{FF2B5EF4-FFF2-40B4-BE49-F238E27FC236}">
                <a16:creationId xmlns:a16="http://schemas.microsoft.com/office/drawing/2014/main" id="{5AF9F91F-1785-209E-56CB-4FC8F9906414}"/>
              </a:ext>
            </a:extLst>
          </p:cNvPr>
          <p:cNvGrpSpPr/>
          <p:nvPr/>
        </p:nvGrpSpPr>
        <p:grpSpPr>
          <a:xfrm>
            <a:off x="11814120" y="1237530"/>
            <a:ext cx="5403957" cy="8490824"/>
            <a:chOff x="11814120" y="1237530"/>
            <a:chExt cx="5403957" cy="8490824"/>
          </a:xfrm>
        </p:grpSpPr>
        <p:sp>
          <p:nvSpPr>
            <p:cNvPr id="6" name="TextBox 4">
              <a:extLst>
                <a:ext uri="{FF2B5EF4-FFF2-40B4-BE49-F238E27FC236}">
                  <a16:creationId xmlns:a16="http://schemas.microsoft.com/office/drawing/2014/main" id="{A0AD8B10-07D4-0021-96A7-69DB89330B71}"/>
                </a:ext>
              </a:extLst>
            </p:cNvPr>
            <p:cNvSpPr txBox="1"/>
            <p:nvPr/>
          </p:nvSpPr>
          <p:spPr>
            <a:xfrm>
              <a:off x="11814120" y="1237530"/>
              <a:ext cx="5403957"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Factors and variances</a:t>
              </a:r>
            </a:p>
          </p:txBody>
        </p:sp>
        <p:sp>
          <p:nvSpPr>
            <p:cNvPr id="7" name="TextBox 4">
              <a:extLst>
                <a:ext uri="{FF2B5EF4-FFF2-40B4-BE49-F238E27FC236}">
                  <a16:creationId xmlns:a16="http://schemas.microsoft.com/office/drawing/2014/main" id="{0EB3053A-5B77-3B30-56D9-01252D438B4A}"/>
                </a:ext>
              </a:extLst>
            </p:cNvPr>
            <p:cNvSpPr txBox="1"/>
            <p:nvPr/>
          </p:nvSpPr>
          <p:spPr>
            <a:xfrm>
              <a:off x="13182598" y="9256815"/>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a:t>
              </a:r>
              <a:r>
                <a:rPr lang="en-US" sz="2800" dirty="0">
                  <a:solidFill>
                    <a:srgbClr val="2B2B2B"/>
                  </a:solidFill>
                  <a:latin typeface="Agrandir"/>
                </a:rPr>
                <a:t>4</a:t>
              </a: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p:txBody>
        </p:sp>
      </p:grpSp>
    </p:spTree>
    <p:extLst>
      <p:ext uri="{BB962C8B-B14F-4D97-AF65-F5344CB8AC3E}">
        <p14:creationId xmlns:p14="http://schemas.microsoft.com/office/powerpoint/2010/main" val="4743672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AF675E74-B05B-BB3F-8985-B4EF9F46708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E3A697E-727B-2E12-E1B2-37349C690A8D}"/>
              </a:ext>
            </a:extLst>
          </p:cNvPr>
          <p:cNvGrpSpPr/>
          <p:nvPr/>
        </p:nvGrpSpPr>
        <p:grpSpPr>
          <a:xfrm>
            <a:off x="-2043425" y="-7372988"/>
            <a:ext cx="22170592" cy="21041909"/>
            <a:chOff x="-2043425" y="-7372988"/>
            <a:chExt cx="22170592" cy="21041909"/>
          </a:xfrm>
        </p:grpSpPr>
        <p:sp>
          <p:nvSpPr>
            <p:cNvPr id="5" name="Freeform 9">
              <a:extLst>
                <a:ext uri="{FF2B5EF4-FFF2-40B4-BE49-F238E27FC236}">
                  <a16:creationId xmlns:a16="http://schemas.microsoft.com/office/drawing/2014/main" id="{B8CEAA5C-1DCD-96A6-1E1D-7DCD15723635}"/>
                </a:ext>
              </a:extLst>
            </p:cNvPr>
            <p:cNvSpPr/>
            <p:nvPr/>
          </p:nvSpPr>
          <p:spPr>
            <a:xfrm rot="20352317">
              <a:off x="-2043425" y="8363612"/>
              <a:ext cx="10277748"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6" name="Freeform 6">
              <a:extLst>
                <a:ext uri="{FF2B5EF4-FFF2-40B4-BE49-F238E27FC236}">
                  <a16:creationId xmlns:a16="http://schemas.microsoft.com/office/drawing/2014/main" id="{1318C5C4-ABFC-B01A-D894-1039BEA6587F}"/>
                </a:ext>
              </a:extLst>
            </p:cNvPr>
            <p:cNvSpPr/>
            <p:nvPr/>
          </p:nvSpPr>
          <p:spPr>
            <a:xfrm rot="20335330">
              <a:off x="7068471" y="-7372988"/>
              <a:ext cx="13058696"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8" name="TextBox 5">
            <a:extLst>
              <a:ext uri="{FF2B5EF4-FFF2-40B4-BE49-F238E27FC236}">
                <a16:creationId xmlns:a16="http://schemas.microsoft.com/office/drawing/2014/main" id="{FEA7A647-A53B-9EBA-18F9-13140E0F8BD5}"/>
              </a:ext>
            </a:extLst>
          </p:cNvPr>
          <p:cNvSpPr txBox="1"/>
          <p:nvPr/>
        </p:nvSpPr>
        <p:spPr>
          <a:xfrm>
            <a:off x="3051715" y="4618997"/>
            <a:ext cx="12184569" cy="2126223"/>
          </a:xfrm>
          <a:prstGeom prst="rect">
            <a:avLst/>
          </a:prstGeom>
        </p:spPr>
        <p:txBody>
          <a:bodyPr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lang="en-US" sz="6999" dirty="0">
                <a:solidFill>
                  <a:srgbClr val="2B2B2B"/>
                </a:solidFill>
                <a:latin typeface="Agrandir"/>
              </a:rPr>
              <a:t>Visualizations after applying MOFA on AML</a:t>
            </a:r>
            <a:endParaRPr kumimoji="0" lang="en-US" sz="6999" b="0" i="0" u="none" strike="noStrike" kern="1200" cap="none" spc="0" normalizeH="0" baseline="0" noProof="0" dirty="0">
              <a:ln>
                <a:noFill/>
              </a:ln>
              <a:solidFill>
                <a:srgbClr val="2B2B2B"/>
              </a:solidFill>
              <a:effectLst/>
              <a:uLnTx/>
              <a:uFillTx/>
              <a:latin typeface="Agrandir"/>
              <a:ea typeface="+mn-ea"/>
              <a:cs typeface="+mn-cs"/>
            </a:endParaRPr>
          </a:p>
        </p:txBody>
      </p:sp>
      <p:sp>
        <p:nvSpPr>
          <p:cNvPr id="10" name="TextBox 5">
            <a:extLst>
              <a:ext uri="{FF2B5EF4-FFF2-40B4-BE49-F238E27FC236}">
                <a16:creationId xmlns:a16="http://schemas.microsoft.com/office/drawing/2014/main" id="{76B6F473-088E-CA51-4D1C-13AAB6C822F3}"/>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407792533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2E0A934A-2CF3-F24C-1E01-4A8596C98DD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29FE5621-C5CB-79F1-AAAE-26282A16332D}"/>
              </a:ext>
            </a:extLst>
          </p:cNvPr>
          <p:cNvGrpSpPr/>
          <p:nvPr/>
        </p:nvGrpSpPr>
        <p:grpSpPr>
          <a:xfrm>
            <a:off x="-1967484" y="-1845629"/>
            <a:ext cx="21945304" cy="14706447"/>
            <a:chOff x="-1967484" y="-1845629"/>
            <a:chExt cx="21945304" cy="14706447"/>
          </a:xfrm>
        </p:grpSpPr>
        <p:sp>
          <p:nvSpPr>
            <p:cNvPr id="16" name="Freeform 9">
              <a:extLst>
                <a:ext uri="{FF2B5EF4-FFF2-40B4-BE49-F238E27FC236}">
                  <a16:creationId xmlns:a16="http://schemas.microsoft.com/office/drawing/2014/main" id="{7C896D5B-1F47-332C-7F84-D4EE003616EE}"/>
                </a:ext>
              </a:extLst>
            </p:cNvPr>
            <p:cNvSpPr/>
            <p:nvPr/>
          </p:nvSpPr>
          <p:spPr>
            <a:xfrm rot="20352317">
              <a:off x="-1967484" y="-1845629"/>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7" name="Freeform 6">
              <a:extLst>
                <a:ext uri="{FF2B5EF4-FFF2-40B4-BE49-F238E27FC236}">
                  <a16:creationId xmlns:a16="http://schemas.microsoft.com/office/drawing/2014/main" id="{0070133E-E8A1-C766-74A8-C1A9D75D877A}"/>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 name="Group 3">
            <a:extLst>
              <a:ext uri="{FF2B5EF4-FFF2-40B4-BE49-F238E27FC236}">
                <a16:creationId xmlns:a16="http://schemas.microsoft.com/office/drawing/2014/main" id="{524EDCC2-4655-0825-2AFF-1BD591324BAC}"/>
              </a:ext>
            </a:extLst>
          </p:cNvPr>
          <p:cNvGrpSpPr/>
          <p:nvPr/>
        </p:nvGrpSpPr>
        <p:grpSpPr>
          <a:xfrm>
            <a:off x="-66617" y="703352"/>
            <a:ext cx="16297978" cy="3384404"/>
            <a:chOff x="-1789757" y="-1743856"/>
            <a:chExt cx="18679622" cy="4512538"/>
          </a:xfrm>
        </p:grpSpPr>
        <p:sp>
          <p:nvSpPr>
            <p:cNvPr id="4" name="TextBox 4">
              <a:extLst>
                <a:ext uri="{FF2B5EF4-FFF2-40B4-BE49-F238E27FC236}">
                  <a16:creationId xmlns:a16="http://schemas.microsoft.com/office/drawing/2014/main" id="{4D22010F-D475-88E4-DB5A-5601F5B9D0BB}"/>
                </a:ext>
              </a:extLst>
            </p:cNvPr>
            <p:cNvSpPr txBox="1"/>
            <p:nvPr/>
          </p:nvSpPr>
          <p:spPr>
            <a:xfrm>
              <a:off x="643772" y="139415"/>
              <a:ext cx="16246093" cy="2629267"/>
            </a:xfrm>
            <a:prstGeom prst="rect">
              <a:avLst/>
            </a:prstGeom>
          </p:spPr>
          <p:txBody>
            <a:bodyPr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Figures 5a, 5b, and 5c effectively illustrate the distribution of clinical samples based on status, gender, and race, respectively, using color-coded dots to represent different groups. </a:t>
              </a:r>
            </a:p>
            <a:p>
              <a:pPr marR="0" lvl="0" algn="ctr"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p:txBody>
        </p:sp>
        <p:sp>
          <p:nvSpPr>
            <p:cNvPr id="5" name="TextBox 5">
              <a:extLst>
                <a:ext uri="{FF2B5EF4-FFF2-40B4-BE49-F238E27FC236}">
                  <a16:creationId xmlns:a16="http://schemas.microsoft.com/office/drawing/2014/main" id="{1F803873-5398-2945-F623-015EF7DC16E8}"/>
                </a:ext>
              </a:extLst>
            </p:cNvPr>
            <p:cNvSpPr txBox="1"/>
            <p:nvPr/>
          </p:nvSpPr>
          <p:spPr>
            <a:xfrm>
              <a:off x="-1789757" y="-1743856"/>
              <a:ext cx="13181218"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factors</a:t>
              </a:r>
            </a:p>
          </p:txBody>
        </p:sp>
      </p:grpSp>
      <p:sp>
        <p:nvSpPr>
          <p:cNvPr id="8" name="TextBox 5">
            <a:extLst>
              <a:ext uri="{FF2B5EF4-FFF2-40B4-BE49-F238E27FC236}">
                <a16:creationId xmlns:a16="http://schemas.microsoft.com/office/drawing/2014/main" id="{6297FA9B-5A54-F5C6-2CF5-6BAACAEE50E1}"/>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9" name="Picture 8">
            <a:extLst>
              <a:ext uri="{FF2B5EF4-FFF2-40B4-BE49-F238E27FC236}">
                <a16:creationId xmlns:a16="http://schemas.microsoft.com/office/drawing/2014/main" id="{D532C432-517A-0C02-4C6A-CBF9932409CD}"/>
              </a:ext>
            </a:extLst>
          </p:cNvPr>
          <p:cNvPicPr>
            <a:picLocks noChangeAspect="1"/>
          </p:cNvPicPr>
          <p:nvPr/>
        </p:nvPicPr>
        <p:blipFill rotWithShape="1">
          <a:blip r:embed="rId6"/>
          <a:srcRect/>
          <a:stretch/>
        </p:blipFill>
        <p:spPr>
          <a:xfrm>
            <a:off x="3352800" y="3840262"/>
            <a:ext cx="12650370" cy="4930769"/>
          </a:xfrm>
          <a:prstGeom prst="rect">
            <a:avLst/>
          </a:prstGeom>
        </p:spPr>
      </p:pic>
    </p:spTree>
    <p:extLst>
      <p:ext uri="{BB962C8B-B14F-4D97-AF65-F5344CB8AC3E}">
        <p14:creationId xmlns:p14="http://schemas.microsoft.com/office/powerpoint/2010/main" val="9893348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9B1C1788-CB1A-5C73-E0CB-6DB18AD491B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7AA366A-AE0F-06AC-F42B-3E2C0234D628}"/>
              </a:ext>
            </a:extLst>
          </p:cNvPr>
          <p:cNvGrpSpPr/>
          <p:nvPr/>
        </p:nvGrpSpPr>
        <p:grpSpPr>
          <a:xfrm>
            <a:off x="-2043425" y="-7372988"/>
            <a:ext cx="22170592" cy="21041909"/>
            <a:chOff x="-2043425" y="-7372988"/>
            <a:chExt cx="22170592" cy="21041909"/>
          </a:xfrm>
        </p:grpSpPr>
        <p:sp>
          <p:nvSpPr>
            <p:cNvPr id="6" name="Freeform 9">
              <a:extLst>
                <a:ext uri="{FF2B5EF4-FFF2-40B4-BE49-F238E27FC236}">
                  <a16:creationId xmlns:a16="http://schemas.microsoft.com/office/drawing/2014/main" id="{19086500-89FF-6BA4-822D-FA48360628DA}"/>
                </a:ext>
              </a:extLst>
            </p:cNvPr>
            <p:cNvSpPr/>
            <p:nvPr/>
          </p:nvSpPr>
          <p:spPr>
            <a:xfrm rot="20352317">
              <a:off x="-2043425" y="8363612"/>
              <a:ext cx="10277748"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7" name="Freeform 6">
              <a:extLst>
                <a:ext uri="{FF2B5EF4-FFF2-40B4-BE49-F238E27FC236}">
                  <a16:creationId xmlns:a16="http://schemas.microsoft.com/office/drawing/2014/main" id="{800A2031-C981-D396-F3A3-94C0BA04C271}"/>
                </a:ext>
              </a:extLst>
            </p:cNvPr>
            <p:cNvSpPr/>
            <p:nvPr/>
          </p:nvSpPr>
          <p:spPr>
            <a:xfrm rot="20335330">
              <a:off x="7068471" y="-7372988"/>
              <a:ext cx="13058696"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 name="Group 3">
            <a:extLst>
              <a:ext uri="{FF2B5EF4-FFF2-40B4-BE49-F238E27FC236}">
                <a16:creationId xmlns:a16="http://schemas.microsoft.com/office/drawing/2014/main" id="{6FFDF82C-3BEE-3672-C4D7-BDC35C9337B1}"/>
              </a:ext>
            </a:extLst>
          </p:cNvPr>
          <p:cNvGrpSpPr/>
          <p:nvPr/>
        </p:nvGrpSpPr>
        <p:grpSpPr>
          <a:xfrm>
            <a:off x="-66617" y="703352"/>
            <a:ext cx="14174723" cy="8222370"/>
            <a:chOff x="-1789757" y="-1743856"/>
            <a:chExt cx="16246093" cy="10963157"/>
          </a:xfrm>
        </p:grpSpPr>
        <p:sp>
          <p:nvSpPr>
            <p:cNvPr id="4" name="TextBox 4">
              <a:extLst>
                <a:ext uri="{FF2B5EF4-FFF2-40B4-BE49-F238E27FC236}">
                  <a16:creationId xmlns:a16="http://schemas.microsoft.com/office/drawing/2014/main" id="{24FE7A7D-265C-FD52-AFFE-545C9C37556E}"/>
                </a:ext>
              </a:extLst>
            </p:cNvPr>
            <p:cNvSpPr txBox="1"/>
            <p:nvPr/>
          </p:nvSpPr>
          <p:spPr>
            <a:xfrm>
              <a:off x="-534380" y="1259518"/>
              <a:ext cx="11925841" cy="7959783"/>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These figures appear that the hidden layers in the data are represented by factors, and correlations between these factors and specific columns in the clinical data are being analyzed. Let's break down the paragraph to explain it further:</a:t>
              </a:r>
            </a:p>
            <a:p>
              <a:pPr marR="0" lvl="0" algn="ctr"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Alatsi Bold"/>
                  <a:ea typeface="+mn-ea"/>
                  <a:cs typeface="Arial" panose="020B0604020202020204" pitchFamily="34" charset="0"/>
                </a:rPr>
                <a:t>In fig(a), the correlation analysis is focused on the "status" column in the clinical data. The factors, namely factor1, factor2, and factor3, are associated with this column. The correlation values range between -5 and 5, indicating the strength and direction of the relationship between the factors and the status column.</a:t>
              </a: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p:txBody>
        </p:sp>
        <p:sp>
          <p:nvSpPr>
            <p:cNvPr id="5" name="TextBox 5">
              <a:extLst>
                <a:ext uri="{FF2B5EF4-FFF2-40B4-BE49-F238E27FC236}">
                  <a16:creationId xmlns:a16="http://schemas.microsoft.com/office/drawing/2014/main" id="{BD5F6A68-AD0F-1442-F5D6-FE324F74DCDB}"/>
                </a:ext>
              </a:extLst>
            </p:cNvPr>
            <p:cNvSpPr txBox="1"/>
            <p:nvPr/>
          </p:nvSpPr>
          <p:spPr>
            <a:xfrm>
              <a:off x="-1789757" y="-1743856"/>
              <a:ext cx="16246093"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factors cont.</a:t>
              </a:r>
            </a:p>
          </p:txBody>
        </p:sp>
      </p:grpSp>
      <p:sp>
        <p:nvSpPr>
          <p:cNvPr id="8" name="TextBox 5">
            <a:extLst>
              <a:ext uri="{FF2B5EF4-FFF2-40B4-BE49-F238E27FC236}">
                <a16:creationId xmlns:a16="http://schemas.microsoft.com/office/drawing/2014/main" id="{5B707648-0410-76F7-E267-26247D8A297C}"/>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9" name="Google Shape;155;p28">
            <a:extLst>
              <a:ext uri="{FF2B5EF4-FFF2-40B4-BE49-F238E27FC236}">
                <a16:creationId xmlns:a16="http://schemas.microsoft.com/office/drawing/2014/main" id="{D99AF2AF-D152-37A0-8DB8-B5F26443887B}"/>
              </a:ext>
            </a:extLst>
          </p:cNvPr>
          <p:cNvPicPr preferRelativeResize="0"/>
          <p:nvPr/>
        </p:nvPicPr>
        <p:blipFill>
          <a:blip r:embed="rId6">
            <a:alphaModFix/>
          </a:blip>
          <a:stretch>
            <a:fillRect/>
          </a:stretch>
        </p:blipFill>
        <p:spPr>
          <a:xfrm>
            <a:off x="11967557" y="2724322"/>
            <a:ext cx="6030487" cy="5773705"/>
          </a:xfrm>
          <a:prstGeom prst="rect">
            <a:avLst/>
          </a:prstGeom>
          <a:noFill/>
          <a:ln>
            <a:noFill/>
          </a:ln>
        </p:spPr>
      </p:pic>
      <p:sp>
        <p:nvSpPr>
          <p:cNvPr id="10" name="TextBox 4">
            <a:extLst>
              <a:ext uri="{FF2B5EF4-FFF2-40B4-BE49-F238E27FC236}">
                <a16:creationId xmlns:a16="http://schemas.microsoft.com/office/drawing/2014/main" id="{649F4B5C-9828-9A8F-D210-8FBC446A7266}"/>
              </a:ext>
            </a:extLst>
          </p:cNvPr>
          <p:cNvSpPr txBox="1"/>
          <p:nvPr/>
        </p:nvSpPr>
        <p:spPr>
          <a:xfrm>
            <a:off x="13868400" y="8701399"/>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6: (a)</a:t>
            </a:r>
          </a:p>
        </p:txBody>
      </p:sp>
    </p:spTree>
    <p:extLst>
      <p:ext uri="{BB962C8B-B14F-4D97-AF65-F5344CB8AC3E}">
        <p14:creationId xmlns:p14="http://schemas.microsoft.com/office/powerpoint/2010/main" val="21817001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9CD5AA82-3A81-FD0E-B6DD-065C42B5687F}"/>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462893F3-01B6-006A-7B57-98BBA7F5CF64}"/>
              </a:ext>
            </a:extLst>
          </p:cNvPr>
          <p:cNvGrpSpPr/>
          <p:nvPr/>
        </p:nvGrpSpPr>
        <p:grpSpPr>
          <a:xfrm>
            <a:off x="-1967484" y="-1845629"/>
            <a:ext cx="21945304" cy="14706447"/>
            <a:chOff x="-1967484" y="-1845629"/>
            <a:chExt cx="21945304" cy="14706447"/>
          </a:xfrm>
        </p:grpSpPr>
        <p:sp>
          <p:nvSpPr>
            <p:cNvPr id="12" name="Freeform 9">
              <a:extLst>
                <a:ext uri="{FF2B5EF4-FFF2-40B4-BE49-F238E27FC236}">
                  <a16:creationId xmlns:a16="http://schemas.microsoft.com/office/drawing/2014/main" id="{EB6D676B-5DE0-BB5A-8F4D-1A87F1CD4BDF}"/>
                </a:ext>
              </a:extLst>
            </p:cNvPr>
            <p:cNvSpPr/>
            <p:nvPr/>
          </p:nvSpPr>
          <p:spPr>
            <a:xfrm rot="20352317">
              <a:off x="-1967484" y="-1845629"/>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3" name="Freeform 6">
              <a:extLst>
                <a:ext uri="{FF2B5EF4-FFF2-40B4-BE49-F238E27FC236}">
                  <a16:creationId xmlns:a16="http://schemas.microsoft.com/office/drawing/2014/main" id="{61BAD4FF-D705-6787-69B5-3C3A6D4F15A1}"/>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 name="Group 3">
            <a:extLst>
              <a:ext uri="{FF2B5EF4-FFF2-40B4-BE49-F238E27FC236}">
                <a16:creationId xmlns:a16="http://schemas.microsoft.com/office/drawing/2014/main" id="{BD91075B-831B-50EE-DE93-48BF5C545B35}"/>
              </a:ext>
            </a:extLst>
          </p:cNvPr>
          <p:cNvGrpSpPr/>
          <p:nvPr/>
        </p:nvGrpSpPr>
        <p:grpSpPr>
          <a:xfrm>
            <a:off x="-66617" y="703352"/>
            <a:ext cx="14174723" cy="6392331"/>
            <a:chOff x="-1789757" y="-1743856"/>
            <a:chExt cx="16246093" cy="8523106"/>
          </a:xfrm>
        </p:grpSpPr>
        <p:sp>
          <p:nvSpPr>
            <p:cNvPr id="4" name="TextBox 4">
              <a:extLst>
                <a:ext uri="{FF2B5EF4-FFF2-40B4-BE49-F238E27FC236}">
                  <a16:creationId xmlns:a16="http://schemas.microsoft.com/office/drawing/2014/main" id="{853A9AED-5455-8721-6B7C-A6ADDBE80142}"/>
                </a:ext>
              </a:extLst>
            </p:cNvPr>
            <p:cNvSpPr txBox="1"/>
            <p:nvPr/>
          </p:nvSpPr>
          <p:spPr>
            <a:xfrm>
              <a:off x="-432268" y="2820560"/>
              <a:ext cx="11925841" cy="3958690"/>
            </a:xfrm>
            <a:prstGeom prst="rect">
              <a:avLst/>
            </a:prstGeom>
          </p:spPr>
          <p:txBody>
            <a:bodyPr wrap="square" lIns="0" tIns="0" rIns="0" bIns="0" rtlCol="0" anchor="t">
              <a:spAutoFit/>
            </a:bodyPr>
            <a:lstStyle/>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Alatsi Bold"/>
                  <a:ea typeface="+mn-ea"/>
                  <a:cs typeface="Arial" panose="020B0604020202020204" pitchFamily="34" charset="0"/>
                </a:rPr>
                <a:t>Moving on to fig(b), the correlation analysis is performed on the "gender" column. Three factors are considered in this case, although the specific factor names are not mentioned. The purpose is to explore the relationship between these factors and the gender column, providing insights into the hidden layers within the data.</a:t>
              </a:r>
              <a:endParaRPr kumimoji="0" lang="en-US" sz="3200" b="0" i="0" u="none" strike="noStrike" kern="1200" cap="none" spc="0" normalizeH="0" baseline="0" noProof="0" dirty="0">
                <a:ln>
                  <a:noFill/>
                </a:ln>
                <a:solidFill>
                  <a:srgbClr val="2B2B2B"/>
                </a:solidFill>
                <a:effectLst/>
                <a:uLnTx/>
                <a:uFillTx/>
                <a:latin typeface="Agrandir"/>
                <a:ea typeface="+mn-ea"/>
                <a:cs typeface="+mn-cs"/>
              </a:endParaRPr>
            </a:p>
          </p:txBody>
        </p:sp>
        <p:sp>
          <p:nvSpPr>
            <p:cNvPr id="5" name="TextBox 5">
              <a:extLst>
                <a:ext uri="{FF2B5EF4-FFF2-40B4-BE49-F238E27FC236}">
                  <a16:creationId xmlns:a16="http://schemas.microsoft.com/office/drawing/2014/main" id="{197B9F8D-724E-7639-B065-86BD2DD40C52}"/>
                </a:ext>
              </a:extLst>
            </p:cNvPr>
            <p:cNvSpPr txBox="1"/>
            <p:nvPr/>
          </p:nvSpPr>
          <p:spPr>
            <a:xfrm>
              <a:off x="-1789757" y="-1743856"/>
              <a:ext cx="16246093"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factors cont.</a:t>
              </a:r>
            </a:p>
          </p:txBody>
        </p:sp>
      </p:grpSp>
      <p:sp>
        <p:nvSpPr>
          <p:cNvPr id="8" name="TextBox 5">
            <a:extLst>
              <a:ext uri="{FF2B5EF4-FFF2-40B4-BE49-F238E27FC236}">
                <a16:creationId xmlns:a16="http://schemas.microsoft.com/office/drawing/2014/main" id="{2A0CC896-8B1C-C0F3-F9B5-266ACB00EE1A}"/>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14" name="Google Shape;147;p27">
            <a:extLst>
              <a:ext uri="{FF2B5EF4-FFF2-40B4-BE49-F238E27FC236}">
                <a16:creationId xmlns:a16="http://schemas.microsoft.com/office/drawing/2014/main" id="{032B22BB-356C-40D1-C7FE-DDC7376031B7}"/>
              </a:ext>
            </a:extLst>
          </p:cNvPr>
          <p:cNvPicPr preferRelativeResize="0"/>
          <p:nvPr/>
        </p:nvPicPr>
        <p:blipFill>
          <a:blip r:embed="rId6">
            <a:alphaModFix/>
          </a:blip>
          <a:stretch>
            <a:fillRect/>
          </a:stretch>
        </p:blipFill>
        <p:spPr>
          <a:xfrm>
            <a:off x="11811000" y="2616434"/>
            <a:ext cx="6083401" cy="5859477"/>
          </a:xfrm>
          <a:prstGeom prst="rect">
            <a:avLst/>
          </a:prstGeom>
          <a:noFill/>
          <a:ln>
            <a:noFill/>
          </a:ln>
        </p:spPr>
      </p:pic>
      <p:sp>
        <p:nvSpPr>
          <p:cNvPr id="2" name="TextBox 4">
            <a:extLst>
              <a:ext uri="{FF2B5EF4-FFF2-40B4-BE49-F238E27FC236}">
                <a16:creationId xmlns:a16="http://schemas.microsoft.com/office/drawing/2014/main" id="{8920059C-3310-37B6-F873-06AAFD2597FE}"/>
              </a:ext>
            </a:extLst>
          </p:cNvPr>
          <p:cNvSpPr txBox="1"/>
          <p:nvPr/>
        </p:nvSpPr>
        <p:spPr>
          <a:xfrm>
            <a:off x="13868400" y="8701399"/>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6: (</a:t>
            </a:r>
            <a:r>
              <a:rPr lang="en-US" sz="2800" dirty="0">
                <a:solidFill>
                  <a:srgbClr val="2B2B2B"/>
                </a:solidFill>
                <a:latin typeface="Agrandir"/>
              </a:rPr>
              <a:t>b</a:t>
            </a:r>
            <a:r>
              <a:rPr kumimoji="0" lang="en-US" sz="2800" b="0" i="0" u="none" strike="noStrike" kern="1200" cap="none" spc="0" normalizeH="0" baseline="0" noProof="0" dirty="0">
                <a:ln>
                  <a:noFill/>
                </a:ln>
                <a:solidFill>
                  <a:srgbClr val="2B2B2B"/>
                </a:solidFill>
                <a:effectLst/>
                <a:uLnTx/>
                <a:uFillTx/>
                <a:latin typeface="Agrandir"/>
                <a:ea typeface="+mn-ea"/>
                <a:cs typeface="+mn-cs"/>
              </a:rPr>
              <a:t>)</a:t>
            </a:r>
          </a:p>
        </p:txBody>
      </p:sp>
    </p:spTree>
    <p:extLst>
      <p:ext uri="{BB962C8B-B14F-4D97-AF65-F5344CB8AC3E}">
        <p14:creationId xmlns:p14="http://schemas.microsoft.com/office/powerpoint/2010/main" val="29321473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50A4CB92-8CC1-88EA-EE10-F8665EF3758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389A5B2-5CB8-DAD1-EA3D-5AD84B0107CB}"/>
              </a:ext>
            </a:extLst>
          </p:cNvPr>
          <p:cNvGrpSpPr/>
          <p:nvPr/>
        </p:nvGrpSpPr>
        <p:grpSpPr>
          <a:xfrm>
            <a:off x="-2043425" y="-7372988"/>
            <a:ext cx="22170592" cy="21041909"/>
            <a:chOff x="-2043425" y="-7372988"/>
            <a:chExt cx="22170592" cy="21041909"/>
          </a:xfrm>
        </p:grpSpPr>
        <p:sp>
          <p:nvSpPr>
            <p:cNvPr id="6" name="Freeform 9">
              <a:extLst>
                <a:ext uri="{FF2B5EF4-FFF2-40B4-BE49-F238E27FC236}">
                  <a16:creationId xmlns:a16="http://schemas.microsoft.com/office/drawing/2014/main" id="{D78285B5-0135-6919-F8F5-7E69DB0B9008}"/>
                </a:ext>
              </a:extLst>
            </p:cNvPr>
            <p:cNvSpPr/>
            <p:nvPr/>
          </p:nvSpPr>
          <p:spPr>
            <a:xfrm rot="20352317">
              <a:off x="-2043425" y="8363612"/>
              <a:ext cx="10277748"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7" name="Freeform 6">
              <a:extLst>
                <a:ext uri="{FF2B5EF4-FFF2-40B4-BE49-F238E27FC236}">
                  <a16:creationId xmlns:a16="http://schemas.microsoft.com/office/drawing/2014/main" id="{EE3A9C69-3697-E60C-6E7B-88BFC01ECC20}"/>
                </a:ext>
              </a:extLst>
            </p:cNvPr>
            <p:cNvSpPr/>
            <p:nvPr/>
          </p:nvSpPr>
          <p:spPr>
            <a:xfrm rot="20335330">
              <a:off x="7068471" y="-7372988"/>
              <a:ext cx="13058696"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 name="Group 3">
            <a:extLst>
              <a:ext uri="{FF2B5EF4-FFF2-40B4-BE49-F238E27FC236}">
                <a16:creationId xmlns:a16="http://schemas.microsoft.com/office/drawing/2014/main" id="{8C86477B-812E-0A34-6F13-D02DDF05E7F6}"/>
              </a:ext>
            </a:extLst>
          </p:cNvPr>
          <p:cNvGrpSpPr/>
          <p:nvPr/>
        </p:nvGrpSpPr>
        <p:grpSpPr>
          <a:xfrm>
            <a:off x="-66617" y="703352"/>
            <a:ext cx="14174723" cy="5424520"/>
            <a:chOff x="-1789757" y="-1743856"/>
            <a:chExt cx="16246093" cy="7232691"/>
          </a:xfrm>
        </p:grpSpPr>
        <p:sp>
          <p:nvSpPr>
            <p:cNvPr id="4" name="TextBox 4">
              <a:extLst>
                <a:ext uri="{FF2B5EF4-FFF2-40B4-BE49-F238E27FC236}">
                  <a16:creationId xmlns:a16="http://schemas.microsoft.com/office/drawing/2014/main" id="{5439BFDC-9D69-4B51-AC77-163EF1409917}"/>
                </a:ext>
              </a:extLst>
            </p:cNvPr>
            <p:cNvSpPr txBox="1"/>
            <p:nvPr/>
          </p:nvSpPr>
          <p:spPr>
            <a:xfrm>
              <a:off x="-432268" y="2863844"/>
              <a:ext cx="11925841" cy="2624991"/>
            </a:xfrm>
            <a:prstGeom prst="rect">
              <a:avLst/>
            </a:prstGeom>
          </p:spPr>
          <p:txBody>
            <a:bodyPr wrap="square" lIns="0" tIns="0" rIns="0" bIns="0" rtlCol="0" anchor="t">
              <a:spAutoFit/>
            </a:bodyPr>
            <a:lstStyle/>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0000"/>
                  </a:solidFill>
                  <a:effectLst/>
                  <a:uLnTx/>
                  <a:uFillTx/>
                  <a:latin typeface="Alatsi Bold"/>
                  <a:ea typeface="+mn-ea"/>
                  <a:cs typeface="Arial" panose="020B0604020202020204" pitchFamily="34" charset="0"/>
                </a:rPr>
                <a:t>Similarly, fig(c) investigates the correlation between the "race" column and three factors. Again, the factor names are not specified, but the analysis aims to uncover the underlying structures or patterns within the data related to race.</a:t>
              </a: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p:txBody>
        </p:sp>
        <p:sp>
          <p:nvSpPr>
            <p:cNvPr id="5" name="TextBox 5">
              <a:extLst>
                <a:ext uri="{FF2B5EF4-FFF2-40B4-BE49-F238E27FC236}">
                  <a16:creationId xmlns:a16="http://schemas.microsoft.com/office/drawing/2014/main" id="{1E536FA4-EA03-1949-11BE-0F2DB0BC09C9}"/>
                </a:ext>
              </a:extLst>
            </p:cNvPr>
            <p:cNvSpPr txBox="1"/>
            <p:nvPr/>
          </p:nvSpPr>
          <p:spPr>
            <a:xfrm>
              <a:off x="-1789757" y="-1743856"/>
              <a:ext cx="16246093"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factors cont.</a:t>
              </a:r>
            </a:p>
          </p:txBody>
        </p:sp>
      </p:grpSp>
      <p:sp>
        <p:nvSpPr>
          <p:cNvPr id="8" name="TextBox 5">
            <a:extLst>
              <a:ext uri="{FF2B5EF4-FFF2-40B4-BE49-F238E27FC236}">
                <a16:creationId xmlns:a16="http://schemas.microsoft.com/office/drawing/2014/main" id="{1E5C7A7D-5AC1-5635-4463-7A4EBE7AEFF9}"/>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14" name="Google Shape;148;p27">
            <a:extLst>
              <a:ext uri="{FF2B5EF4-FFF2-40B4-BE49-F238E27FC236}">
                <a16:creationId xmlns:a16="http://schemas.microsoft.com/office/drawing/2014/main" id="{206130E9-8278-2205-A74F-FD8219C7EC14}"/>
              </a:ext>
            </a:extLst>
          </p:cNvPr>
          <p:cNvPicPr preferRelativeResize="0"/>
          <p:nvPr/>
        </p:nvPicPr>
        <p:blipFill>
          <a:blip r:embed="rId6">
            <a:alphaModFix/>
          </a:blip>
          <a:stretch>
            <a:fillRect/>
          </a:stretch>
        </p:blipFill>
        <p:spPr>
          <a:xfrm>
            <a:off x="11950053" y="2774815"/>
            <a:ext cx="6065495" cy="5723993"/>
          </a:xfrm>
          <a:prstGeom prst="rect">
            <a:avLst/>
          </a:prstGeom>
          <a:noFill/>
          <a:ln>
            <a:noFill/>
          </a:ln>
        </p:spPr>
      </p:pic>
      <p:sp>
        <p:nvSpPr>
          <p:cNvPr id="9" name="TextBox 4">
            <a:extLst>
              <a:ext uri="{FF2B5EF4-FFF2-40B4-BE49-F238E27FC236}">
                <a16:creationId xmlns:a16="http://schemas.microsoft.com/office/drawing/2014/main" id="{4F93B4A3-312C-F554-6B4B-5D4DC613DDCF}"/>
              </a:ext>
            </a:extLst>
          </p:cNvPr>
          <p:cNvSpPr txBox="1"/>
          <p:nvPr/>
        </p:nvSpPr>
        <p:spPr>
          <a:xfrm>
            <a:off x="13868400" y="8701399"/>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6: (c)</a:t>
            </a:r>
          </a:p>
        </p:txBody>
      </p:sp>
    </p:spTree>
    <p:extLst>
      <p:ext uri="{BB962C8B-B14F-4D97-AF65-F5344CB8AC3E}">
        <p14:creationId xmlns:p14="http://schemas.microsoft.com/office/powerpoint/2010/main" val="33372800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C692B2A2-BE1B-D89A-E977-C8E70FA898A5}"/>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B7822B04-ECE8-E9D7-3A74-DC30E36C12DC}"/>
              </a:ext>
            </a:extLst>
          </p:cNvPr>
          <p:cNvGrpSpPr/>
          <p:nvPr/>
        </p:nvGrpSpPr>
        <p:grpSpPr>
          <a:xfrm>
            <a:off x="-1967484" y="-1845629"/>
            <a:ext cx="21945304" cy="14706447"/>
            <a:chOff x="-1967484" y="-1845629"/>
            <a:chExt cx="21945304" cy="14706447"/>
          </a:xfrm>
        </p:grpSpPr>
        <p:sp>
          <p:nvSpPr>
            <p:cNvPr id="11" name="Freeform 9">
              <a:extLst>
                <a:ext uri="{FF2B5EF4-FFF2-40B4-BE49-F238E27FC236}">
                  <a16:creationId xmlns:a16="http://schemas.microsoft.com/office/drawing/2014/main" id="{3DFAA676-0DCE-6D8E-83DE-50A336DDD9C4}"/>
                </a:ext>
              </a:extLst>
            </p:cNvPr>
            <p:cNvSpPr/>
            <p:nvPr/>
          </p:nvSpPr>
          <p:spPr>
            <a:xfrm rot="20352317">
              <a:off x="-1967484" y="-1845629"/>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2" name="Freeform 6">
              <a:extLst>
                <a:ext uri="{FF2B5EF4-FFF2-40B4-BE49-F238E27FC236}">
                  <a16:creationId xmlns:a16="http://schemas.microsoft.com/office/drawing/2014/main" id="{FB3A0103-4086-BC18-42B0-B86009B31AE0}"/>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 name="Group 3">
            <a:extLst>
              <a:ext uri="{FF2B5EF4-FFF2-40B4-BE49-F238E27FC236}">
                <a16:creationId xmlns:a16="http://schemas.microsoft.com/office/drawing/2014/main" id="{84C70955-0938-4463-27B6-1169EE89D1FD}"/>
              </a:ext>
            </a:extLst>
          </p:cNvPr>
          <p:cNvGrpSpPr/>
          <p:nvPr/>
        </p:nvGrpSpPr>
        <p:grpSpPr>
          <a:xfrm>
            <a:off x="-66617" y="703352"/>
            <a:ext cx="16829111" cy="3965673"/>
            <a:chOff x="-1789757" y="-1743856"/>
            <a:chExt cx="19288371" cy="5287563"/>
          </a:xfrm>
        </p:grpSpPr>
        <p:sp>
          <p:nvSpPr>
            <p:cNvPr id="4" name="TextBox 4">
              <a:extLst>
                <a:ext uri="{FF2B5EF4-FFF2-40B4-BE49-F238E27FC236}">
                  <a16:creationId xmlns:a16="http://schemas.microsoft.com/office/drawing/2014/main" id="{658C71F1-258F-1FE4-5653-ACCDF6A6FAB6}"/>
                </a:ext>
              </a:extLst>
            </p:cNvPr>
            <p:cNvSpPr txBox="1"/>
            <p:nvPr/>
          </p:nvSpPr>
          <p:spPr>
            <a:xfrm>
              <a:off x="35023" y="1581290"/>
              <a:ext cx="17463591" cy="1962417"/>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the weights provide a score for how strong each feature relates factor 1. Methylation with no association with the factor 1</a:t>
              </a:r>
            </a:p>
            <a:p>
              <a:pPr marR="0" lvl="0" algn="ctr"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p:txBody>
        </p:sp>
        <p:sp>
          <p:nvSpPr>
            <p:cNvPr id="5" name="TextBox 5">
              <a:extLst>
                <a:ext uri="{FF2B5EF4-FFF2-40B4-BE49-F238E27FC236}">
                  <a16:creationId xmlns:a16="http://schemas.microsoft.com/office/drawing/2014/main" id="{43F5B8D7-E6A9-CCA8-03CB-5F8E3F7C55DC}"/>
                </a:ext>
              </a:extLst>
            </p:cNvPr>
            <p:cNvSpPr txBox="1"/>
            <p:nvPr/>
          </p:nvSpPr>
          <p:spPr>
            <a:xfrm>
              <a:off x="-1789757" y="-1743856"/>
              <a:ext cx="15360012" cy="2834964"/>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features</a:t>
              </a:r>
            </a:p>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weights</a:t>
              </a:r>
            </a:p>
          </p:txBody>
        </p:sp>
      </p:grpSp>
      <p:sp>
        <p:nvSpPr>
          <p:cNvPr id="8" name="TextBox 5">
            <a:extLst>
              <a:ext uri="{FF2B5EF4-FFF2-40B4-BE49-F238E27FC236}">
                <a16:creationId xmlns:a16="http://schemas.microsoft.com/office/drawing/2014/main" id="{EAB7E804-A1F8-0299-BE85-8A38DAD6764D}"/>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9" name="Picture 8">
            <a:extLst>
              <a:ext uri="{FF2B5EF4-FFF2-40B4-BE49-F238E27FC236}">
                <a16:creationId xmlns:a16="http://schemas.microsoft.com/office/drawing/2014/main" id="{B8BCA3C8-2685-9CA8-A7A2-31049044FD03}"/>
              </a:ext>
            </a:extLst>
          </p:cNvPr>
          <p:cNvPicPr>
            <a:picLocks noChangeAspect="1"/>
          </p:cNvPicPr>
          <p:nvPr/>
        </p:nvPicPr>
        <p:blipFill>
          <a:blip r:embed="rId6"/>
          <a:stretch>
            <a:fillRect/>
          </a:stretch>
        </p:blipFill>
        <p:spPr>
          <a:xfrm>
            <a:off x="3288521" y="4311661"/>
            <a:ext cx="11710955" cy="4967002"/>
          </a:xfrm>
          <a:prstGeom prst="rect">
            <a:avLst/>
          </a:prstGeom>
        </p:spPr>
      </p:pic>
    </p:spTree>
    <p:extLst>
      <p:ext uri="{BB962C8B-B14F-4D97-AF65-F5344CB8AC3E}">
        <p14:creationId xmlns:p14="http://schemas.microsoft.com/office/powerpoint/2010/main" val="14116934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31AEADD9-9076-9730-CBB2-A3E6C0F28041}"/>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9C1F5DD-CA6B-F504-35BB-BEA90624E7DE}"/>
              </a:ext>
            </a:extLst>
          </p:cNvPr>
          <p:cNvGrpSpPr/>
          <p:nvPr/>
        </p:nvGrpSpPr>
        <p:grpSpPr>
          <a:xfrm>
            <a:off x="-2043425" y="-7372988"/>
            <a:ext cx="22170592" cy="21041909"/>
            <a:chOff x="-2043425" y="-7372988"/>
            <a:chExt cx="22170592" cy="21041909"/>
          </a:xfrm>
        </p:grpSpPr>
        <p:sp>
          <p:nvSpPr>
            <p:cNvPr id="6" name="Freeform 9">
              <a:extLst>
                <a:ext uri="{FF2B5EF4-FFF2-40B4-BE49-F238E27FC236}">
                  <a16:creationId xmlns:a16="http://schemas.microsoft.com/office/drawing/2014/main" id="{EAAF3104-4D99-8077-E738-F15F4A4A3984}"/>
                </a:ext>
              </a:extLst>
            </p:cNvPr>
            <p:cNvSpPr/>
            <p:nvPr/>
          </p:nvSpPr>
          <p:spPr>
            <a:xfrm rot="20352317">
              <a:off x="-2043425" y="8363612"/>
              <a:ext cx="10277748"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7" name="Freeform 6">
              <a:extLst>
                <a:ext uri="{FF2B5EF4-FFF2-40B4-BE49-F238E27FC236}">
                  <a16:creationId xmlns:a16="http://schemas.microsoft.com/office/drawing/2014/main" id="{CC435D3C-E66F-0E88-9EBF-4A12B8CFCE5D}"/>
                </a:ext>
              </a:extLst>
            </p:cNvPr>
            <p:cNvSpPr/>
            <p:nvPr/>
          </p:nvSpPr>
          <p:spPr>
            <a:xfrm rot="20335330">
              <a:off x="7068471" y="-7372988"/>
              <a:ext cx="13058696"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3" name="Group 3">
            <a:extLst>
              <a:ext uri="{FF2B5EF4-FFF2-40B4-BE49-F238E27FC236}">
                <a16:creationId xmlns:a16="http://schemas.microsoft.com/office/drawing/2014/main" id="{6FF3B98F-622D-78EF-7BC0-3EDE2A8A7D0D}"/>
              </a:ext>
            </a:extLst>
          </p:cNvPr>
          <p:cNvGrpSpPr/>
          <p:nvPr/>
        </p:nvGrpSpPr>
        <p:grpSpPr>
          <a:xfrm>
            <a:off x="-66617" y="703352"/>
            <a:ext cx="16221017" cy="2854287"/>
            <a:chOff x="-1789757" y="-1743856"/>
            <a:chExt cx="18591415" cy="3805716"/>
          </a:xfrm>
        </p:grpSpPr>
        <p:sp>
          <p:nvSpPr>
            <p:cNvPr id="4" name="TextBox 4">
              <a:extLst>
                <a:ext uri="{FF2B5EF4-FFF2-40B4-BE49-F238E27FC236}">
                  <a16:creationId xmlns:a16="http://schemas.microsoft.com/office/drawing/2014/main" id="{838F1494-A076-6D1D-33FE-10C9B14B5B15}"/>
                </a:ext>
              </a:extLst>
            </p:cNvPr>
            <p:cNvSpPr txBox="1"/>
            <p:nvPr/>
          </p:nvSpPr>
          <p:spPr>
            <a:xfrm>
              <a:off x="555565" y="1433141"/>
              <a:ext cx="16246093" cy="628719"/>
            </a:xfrm>
            <a:prstGeom prst="rect">
              <a:avLst/>
            </a:prstGeom>
          </p:spPr>
          <p:txBody>
            <a:bodyPr lIns="0" tIns="0" rIns="0" bIns="0" rtlCol="0" anchor="t">
              <a:spAutoFit/>
            </a:bodyPr>
            <a:lstStyle/>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p:txBody>
        </p:sp>
        <p:sp>
          <p:nvSpPr>
            <p:cNvPr id="5" name="TextBox 5">
              <a:extLst>
                <a:ext uri="{FF2B5EF4-FFF2-40B4-BE49-F238E27FC236}">
                  <a16:creationId xmlns:a16="http://schemas.microsoft.com/office/drawing/2014/main" id="{288B1849-BE6B-C435-C8AB-512745A701C6}"/>
                </a:ext>
              </a:extLst>
            </p:cNvPr>
            <p:cNvSpPr txBox="1"/>
            <p:nvPr/>
          </p:nvSpPr>
          <p:spPr>
            <a:xfrm>
              <a:off x="-1789757" y="-1743856"/>
              <a:ext cx="15884024" cy="2834964"/>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features</a:t>
              </a:r>
            </a:p>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weights cont.</a:t>
              </a:r>
            </a:p>
          </p:txBody>
        </p:sp>
      </p:grpSp>
      <p:sp>
        <p:nvSpPr>
          <p:cNvPr id="8" name="TextBox 5">
            <a:extLst>
              <a:ext uri="{FF2B5EF4-FFF2-40B4-BE49-F238E27FC236}">
                <a16:creationId xmlns:a16="http://schemas.microsoft.com/office/drawing/2014/main" id="{5F19EEE0-A3FF-B1D7-E07F-26D8B96C1DDE}"/>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9" name="Picture 8">
            <a:extLst>
              <a:ext uri="{FF2B5EF4-FFF2-40B4-BE49-F238E27FC236}">
                <a16:creationId xmlns:a16="http://schemas.microsoft.com/office/drawing/2014/main" id="{27A4F7D1-5602-B41D-302F-0910254DAFBB}"/>
              </a:ext>
            </a:extLst>
          </p:cNvPr>
          <p:cNvPicPr>
            <a:picLocks noChangeAspect="1"/>
          </p:cNvPicPr>
          <p:nvPr/>
        </p:nvPicPr>
        <p:blipFill rotWithShape="1">
          <a:blip r:embed="rId6"/>
          <a:srcRect b="10609"/>
          <a:stretch/>
        </p:blipFill>
        <p:spPr>
          <a:xfrm>
            <a:off x="3481655" y="3433399"/>
            <a:ext cx="11324690" cy="4529502"/>
          </a:xfrm>
          <a:prstGeom prst="rect">
            <a:avLst/>
          </a:prstGeom>
        </p:spPr>
      </p:pic>
      <p:sp>
        <p:nvSpPr>
          <p:cNvPr id="10" name="TextBox 4">
            <a:extLst>
              <a:ext uri="{FF2B5EF4-FFF2-40B4-BE49-F238E27FC236}">
                <a16:creationId xmlns:a16="http://schemas.microsoft.com/office/drawing/2014/main" id="{90277669-A61B-5E62-E5BD-534F6F40EA8A}"/>
              </a:ext>
            </a:extLst>
          </p:cNvPr>
          <p:cNvSpPr txBox="1"/>
          <p:nvPr/>
        </p:nvSpPr>
        <p:spPr>
          <a:xfrm>
            <a:off x="7200138" y="8310200"/>
            <a:ext cx="37338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8: </a:t>
            </a:r>
            <a:r>
              <a:rPr lang="en-US" sz="2800" noProof="0" dirty="0">
                <a:solidFill>
                  <a:srgbClr val="2B2B2B"/>
                </a:solidFill>
                <a:latin typeface="Agrandir"/>
              </a:rPr>
              <a:t>Top weights</a:t>
            </a: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p:txBody>
      </p:sp>
    </p:spTree>
    <p:extLst>
      <p:ext uri="{BB962C8B-B14F-4D97-AF65-F5344CB8AC3E}">
        <p14:creationId xmlns:p14="http://schemas.microsoft.com/office/powerpoint/2010/main" val="33546330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1F6DBE2A-0794-1ED1-0E50-00A10AF2AA7A}"/>
            </a:ext>
          </a:extLst>
        </p:cNvPr>
        <p:cNvGrpSpPr/>
        <p:nvPr/>
      </p:nvGrpSpPr>
      <p:grpSpPr>
        <a:xfrm>
          <a:off x="0" y="0"/>
          <a:ext cx="0" cy="0"/>
          <a:chOff x="0" y="0"/>
          <a:chExt cx="0" cy="0"/>
        </a:xfrm>
      </p:grpSpPr>
      <p:sp>
        <p:nvSpPr>
          <p:cNvPr id="12" name="Freeform 3">
            <a:extLst>
              <a:ext uri="{FF2B5EF4-FFF2-40B4-BE49-F238E27FC236}">
                <a16:creationId xmlns:a16="http://schemas.microsoft.com/office/drawing/2014/main" id="{A6D9F900-5201-8C5F-C2B8-3D2BE0DE788F}"/>
              </a:ext>
            </a:extLst>
          </p:cNvPr>
          <p:cNvSpPr/>
          <p:nvPr/>
        </p:nvSpPr>
        <p:spPr>
          <a:xfrm>
            <a:off x="8826742" y="3086100"/>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9">
            <a:extLst>
              <a:ext uri="{FF2B5EF4-FFF2-40B4-BE49-F238E27FC236}">
                <a16:creationId xmlns:a16="http://schemas.microsoft.com/office/drawing/2014/main" id="{CBD5F1D4-66C3-2AD5-50F0-4525FAA52FDB}"/>
              </a:ext>
            </a:extLst>
          </p:cNvPr>
          <p:cNvSpPr/>
          <p:nvPr/>
        </p:nvSpPr>
        <p:spPr>
          <a:xfrm rot="20352317">
            <a:off x="-1967484" y="-1845629"/>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nvGrpSpPr>
          <p:cNvPr id="3" name="Group 3">
            <a:extLst>
              <a:ext uri="{FF2B5EF4-FFF2-40B4-BE49-F238E27FC236}">
                <a16:creationId xmlns:a16="http://schemas.microsoft.com/office/drawing/2014/main" id="{B22F01E4-A3E8-BD67-3522-5400D82B2149}"/>
              </a:ext>
            </a:extLst>
          </p:cNvPr>
          <p:cNvGrpSpPr/>
          <p:nvPr/>
        </p:nvGrpSpPr>
        <p:grpSpPr>
          <a:xfrm>
            <a:off x="-66617" y="703352"/>
            <a:ext cx="12715817" cy="5877441"/>
            <a:chOff x="-1789757" y="-1743856"/>
            <a:chExt cx="14573996" cy="7836587"/>
          </a:xfrm>
        </p:grpSpPr>
        <p:sp>
          <p:nvSpPr>
            <p:cNvPr id="4" name="TextBox 4">
              <a:extLst>
                <a:ext uri="{FF2B5EF4-FFF2-40B4-BE49-F238E27FC236}">
                  <a16:creationId xmlns:a16="http://schemas.microsoft.com/office/drawing/2014/main" id="{EF138FF8-6F6D-3C9C-299F-3AFD4F9709F0}"/>
                </a:ext>
              </a:extLst>
            </p:cNvPr>
            <p:cNvSpPr txBox="1"/>
            <p:nvPr/>
          </p:nvSpPr>
          <p:spPr>
            <a:xfrm>
              <a:off x="548425" y="2129766"/>
              <a:ext cx="10045294" cy="3962965"/>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Methylation Heatmap:</a:t>
              </a:r>
            </a:p>
            <a:p>
              <a:pPr marR="0" lvl="0" algn="l"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 </a:t>
              </a: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Exploring methylation patterns across genders for selected genes. </a:t>
              </a: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Heatmap depicting the methylation levels for specific genes and their association with gender.</a:t>
              </a:r>
            </a:p>
          </p:txBody>
        </p:sp>
        <p:sp>
          <p:nvSpPr>
            <p:cNvPr id="5" name="TextBox 5">
              <a:extLst>
                <a:ext uri="{FF2B5EF4-FFF2-40B4-BE49-F238E27FC236}">
                  <a16:creationId xmlns:a16="http://schemas.microsoft.com/office/drawing/2014/main" id="{429B1BCA-585A-7268-8016-7C4ED81616F1}"/>
                </a:ext>
              </a:extLst>
            </p:cNvPr>
            <p:cNvSpPr txBox="1"/>
            <p:nvPr/>
          </p:nvSpPr>
          <p:spPr>
            <a:xfrm>
              <a:off x="-1789757" y="-1743856"/>
              <a:ext cx="14573996"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 Visualization of heatmap</a:t>
              </a:r>
            </a:p>
          </p:txBody>
        </p:sp>
      </p:grpSp>
      <p:sp>
        <p:nvSpPr>
          <p:cNvPr id="8" name="TextBox 5">
            <a:extLst>
              <a:ext uri="{FF2B5EF4-FFF2-40B4-BE49-F238E27FC236}">
                <a16:creationId xmlns:a16="http://schemas.microsoft.com/office/drawing/2014/main" id="{43BE291F-5846-4BF8-79AE-935188D62E1A}"/>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13" name="Picture 12">
            <a:extLst>
              <a:ext uri="{FF2B5EF4-FFF2-40B4-BE49-F238E27FC236}">
                <a16:creationId xmlns:a16="http://schemas.microsoft.com/office/drawing/2014/main" id="{0B2ACAAC-35F9-7B4A-29CD-076ECD6CA5F1}"/>
              </a:ext>
            </a:extLst>
          </p:cNvPr>
          <p:cNvPicPr>
            <a:picLocks noChangeAspect="1"/>
          </p:cNvPicPr>
          <p:nvPr/>
        </p:nvPicPr>
        <p:blipFill rotWithShape="1">
          <a:blip r:embed="rId6"/>
          <a:srcRect b="10937"/>
          <a:stretch/>
        </p:blipFill>
        <p:spPr>
          <a:xfrm>
            <a:off x="11513499" y="2552700"/>
            <a:ext cx="6077766" cy="6221673"/>
          </a:xfrm>
          <a:prstGeom prst="rect">
            <a:avLst/>
          </a:prstGeom>
        </p:spPr>
      </p:pic>
      <p:sp>
        <p:nvSpPr>
          <p:cNvPr id="6" name="TextBox 4">
            <a:extLst>
              <a:ext uri="{FF2B5EF4-FFF2-40B4-BE49-F238E27FC236}">
                <a16:creationId xmlns:a16="http://schemas.microsoft.com/office/drawing/2014/main" id="{C0AA7FBC-0777-1B77-D3AD-7D5824E9F5DE}"/>
              </a:ext>
            </a:extLst>
          </p:cNvPr>
          <p:cNvSpPr txBox="1"/>
          <p:nvPr/>
        </p:nvSpPr>
        <p:spPr>
          <a:xfrm>
            <a:off x="13868400" y="8987873"/>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9: (a)</a:t>
            </a:r>
          </a:p>
        </p:txBody>
      </p:sp>
    </p:spTree>
    <p:extLst>
      <p:ext uri="{BB962C8B-B14F-4D97-AF65-F5344CB8AC3E}">
        <p14:creationId xmlns:p14="http://schemas.microsoft.com/office/powerpoint/2010/main" val="451629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0E89AC13-8F6B-5BB6-262B-F22698AE144E}"/>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79155CA4-1A95-FB5D-AB84-BB6084A9DC1D}"/>
              </a:ext>
            </a:extLst>
          </p:cNvPr>
          <p:cNvGrpSpPr/>
          <p:nvPr/>
        </p:nvGrpSpPr>
        <p:grpSpPr>
          <a:xfrm>
            <a:off x="-9271872" y="-1796810"/>
            <a:ext cx="36068097" cy="17593880"/>
            <a:chOff x="-9271872" y="-1796810"/>
            <a:chExt cx="36068097" cy="17593880"/>
          </a:xfrm>
        </p:grpSpPr>
        <p:sp>
          <p:nvSpPr>
            <p:cNvPr id="12" name="Freeform 3">
              <a:extLst>
                <a:ext uri="{FF2B5EF4-FFF2-40B4-BE49-F238E27FC236}">
                  <a16:creationId xmlns:a16="http://schemas.microsoft.com/office/drawing/2014/main" id="{B6E70C27-07A5-D0C0-45B7-ACDF2C02FBC6}"/>
                </a:ext>
              </a:extLst>
            </p:cNvPr>
            <p:cNvSpPr/>
            <p:nvPr/>
          </p:nvSpPr>
          <p:spPr>
            <a:xfrm>
              <a:off x="-9271872" y="3086100"/>
              <a:ext cx="13691472" cy="12710970"/>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9">
              <a:extLst>
                <a:ext uri="{FF2B5EF4-FFF2-40B4-BE49-F238E27FC236}">
                  <a16:creationId xmlns:a16="http://schemas.microsoft.com/office/drawing/2014/main" id="{6BB764A5-D0A8-E872-5861-627E89E9AE8C}"/>
                </a:ext>
              </a:extLst>
            </p:cNvPr>
            <p:cNvSpPr/>
            <p:nvPr/>
          </p:nvSpPr>
          <p:spPr>
            <a:xfrm rot="20352317">
              <a:off x="16612040" y="-1796810"/>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 name="Group 3">
            <a:extLst>
              <a:ext uri="{FF2B5EF4-FFF2-40B4-BE49-F238E27FC236}">
                <a16:creationId xmlns:a16="http://schemas.microsoft.com/office/drawing/2014/main" id="{21102DF2-8B46-4311-2CE0-151147D6691C}"/>
              </a:ext>
            </a:extLst>
          </p:cNvPr>
          <p:cNvGrpSpPr/>
          <p:nvPr/>
        </p:nvGrpSpPr>
        <p:grpSpPr>
          <a:xfrm>
            <a:off x="-66617" y="703352"/>
            <a:ext cx="12792017" cy="5877441"/>
            <a:chOff x="-1789757" y="-1743856"/>
            <a:chExt cx="14661331" cy="7836587"/>
          </a:xfrm>
        </p:grpSpPr>
        <p:sp>
          <p:nvSpPr>
            <p:cNvPr id="4" name="TextBox 4">
              <a:extLst>
                <a:ext uri="{FF2B5EF4-FFF2-40B4-BE49-F238E27FC236}">
                  <a16:creationId xmlns:a16="http://schemas.microsoft.com/office/drawing/2014/main" id="{1D226873-6157-D2F4-FC0D-8F01D352D5C2}"/>
                </a:ext>
              </a:extLst>
            </p:cNvPr>
            <p:cNvSpPr txBox="1"/>
            <p:nvPr/>
          </p:nvSpPr>
          <p:spPr>
            <a:xfrm>
              <a:off x="592093" y="2129766"/>
              <a:ext cx="10045294" cy="3962965"/>
            </a:xfrm>
            <a:prstGeom prst="rect">
              <a:avLst/>
            </a:prstGeom>
          </p:spPr>
          <p:txBody>
            <a:bodyPr wrap="square" lIns="0" tIns="0" rIns="0" bIns="0" rtlCol="0" anchor="t">
              <a:spAutoFit/>
            </a:bodyPr>
            <a:lstStyle/>
            <a:p>
              <a:pPr marL="0" marR="0" lvl="0" indent="0" algn="ctr" defTabSz="914400" rtl="0" eaLnBrk="1" fontAlgn="auto" latinLnBrk="0" hangingPunct="1">
                <a:lnSpc>
                  <a:spcPts val="392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miRNA Heatmap:</a:t>
              </a:r>
            </a:p>
            <a:p>
              <a:pPr marL="0" marR="0" lvl="0" indent="0" algn="l" defTabSz="914400" rtl="0" eaLnBrk="1" fontAlgn="auto" latinLnBrk="0" hangingPunct="1">
                <a:lnSpc>
                  <a:spcPts val="392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 </a:t>
              </a: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Examining miRNA expression patterns based on status and gene names.</a:t>
              </a: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Heatmap illustrating the miRNA profiles related to different statuses for the specified genes.</a:t>
              </a:r>
            </a:p>
          </p:txBody>
        </p:sp>
        <p:sp>
          <p:nvSpPr>
            <p:cNvPr id="5" name="TextBox 5">
              <a:extLst>
                <a:ext uri="{FF2B5EF4-FFF2-40B4-BE49-F238E27FC236}">
                  <a16:creationId xmlns:a16="http://schemas.microsoft.com/office/drawing/2014/main" id="{CE17AA76-6376-9315-9437-C58089FD6BCC}"/>
                </a:ext>
              </a:extLst>
            </p:cNvPr>
            <p:cNvSpPr txBox="1"/>
            <p:nvPr/>
          </p:nvSpPr>
          <p:spPr>
            <a:xfrm>
              <a:off x="-1789757" y="-1743856"/>
              <a:ext cx="14661331" cy="2834964"/>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 Visualization of heatmap cont.</a:t>
              </a:r>
            </a:p>
          </p:txBody>
        </p:sp>
      </p:grpSp>
      <p:sp>
        <p:nvSpPr>
          <p:cNvPr id="8" name="TextBox 5">
            <a:extLst>
              <a:ext uri="{FF2B5EF4-FFF2-40B4-BE49-F238E27FC236}">
                <a16:creationId xmlns:a16="http://schemas.microsoft.com/office/drawing/2014/main" id="{AFA32493-690B-CAFC-5D2D-AEE3D6DA5966}"/>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2" name="Picture 1">
            <a:extLst>
              <a:ext uri="{FF2B5EF4-FFF2-40B4-BE49-F238E27FC236}">
                <a16:creationId xmlns:a16="http://schemas.microsoft.com/office/drawing/2014/main" id="{D0FB7288-A29E-3C7D-51CF-26F1B49BA507}"/>
              </a:ext>
            </a:extLst>
          </p:cNvPr>
          <p:cNvPicPr>
            <a:picLocks noChangeAspect="1"/>
          </p:cNvPicPr>
          <p:nvPr/>
        </p:nvPicPr>
        <p:blipFill rotWithShape="1">
          <a:blip r:embed="rId6"/>
          <a:srcRect b="9262"/>
          <a:stretch/>
        </p:blipFill>
        <p:spPr>
          <a:xfrm>
            <a:off x="11723865" y="2705100"/>
            <a:ext cx="5867400" cy="6092549"/>
          </a:xfrm>
          <a:prstGeom prst="rect">
            <a:avLst/>
          </a:prstGeom>
        </p:spPr>
      </p:pic>
      <p:sp>
        <p:nvSpPr>
          <p:cNvPr id="7" name="TextBox 4">
            <a:extLst>
              <a:ext uri="{FF2B5EF4-FFF2-40B4-BE49-F238E27FC236}">
                <a16:creationId xmlns:a16="http://schemas.microsoft.com/office/drawing/2014/main" id="{DC98F5A7-ECCC-BCB7-84D5-34DEDC99FEB2}"/>
              </a:ext>
            </a:extLst>
          </p:cNvPr>
          <p:cNvSpPr txBox="1"/>
          <p:nvPr/>
        </p:nvSpPr>
        <p:spPr>
          <a:xfrm>
            <a:off x="13868400" y="8987873"/>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9: (b)</a:t>
            </a:r>
          </a:p>
        </p:txBody>
      </p:sp>
    </p:spTree>
    <p:extLst>
      <p:ext uri="{BB962C8B-B14F-4D97-AF65-F5344CB8AC3E}">
        <p14:creationId xmlns:p14="http://schemas.microsoft.com/office/powerpoint/2010/main" val="397013920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E44CF092-F0F6-DD21-A688-176B0D72ABE4}"/>
            </a:ext>
          </a:extLst>
        </p:cNvPr>
        <p:cNvGrpSpPr/>
        <p:nvPr/>
      </p:nvGrpSpPr>
      <p:grpSpPr>
        <a:xfrm>
          <a:off x="0" y="0"/>
          <a:ext cx="0" cy="0"/>
          <a:chOff x="0" y="0"/>
          <a:chExt cx="0" cy="0"/>
        </a:xfrm>
      </p:grpSpPr>
      <p:sp>
        <p:nvSpPr>
          <p:cNvPr id="12" name="Freeform 3">
            <a:extLst>
              <a:ext uri="{FF2B5EF4-FFF2-40B4-BE49-F238E27FC236}">
                <a16:creationId xmlns:a16="http://schemas.microsoft.com/office/drawing/2014/main" id="{79FB0B68-015C-345F-4DB4-8348FC6BFF00}"/>
              </a:ext>
            </a:extLst>
          </p:cNvPr>
          <p:cNvSpPr/>
          <p:nvPr/>
        </p:nvSpPr>
        <p:spPr>
          <a:xfrm>
            <a:off x="8826742" y="3086100"/>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9">
            <a:extLst>
              <a:ext uri="{FF2B5EF4-FFF2-40B4-BE49-F238E27FC236}">
                <a16:creationId xmlns:a16="http://schemas.microsoft.com/office/drawing/2014/main" id="{89C290B6-6113-C25D-0A80-509E7A3AD3CE}"/>
              </a:ext>
            </a:extLst>
          </p:cNvPr>
          <p:cNvSpPr/>
          <p:nvPr/>
        </p:nvSpPr>
        <p:spPr>
          <a:xfrm rot="20352317">
            <a:off x="-1967484" y="-1845629"/>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 name="Group 3">
            <a:extLst>
              <a:ext uri="{FF2B5EF4-FFF2-40B4-BE49-F238E27FC236}">
                <a16:creationId xmlns:a16="http://schemas.microsoft.com/office/drawing/2014/main" id="{CA8780F6-6B89-9741-B2C3-CABC87A76D94}"/>
              </a:ext>
            </a:extLst>
          </p:cNvPr>
          <p:cNvGrpSpPr/>
          <p:nvPr/>
        </p:nvGrpSpPr>
        <p:grpSpPr>
          <a:xfrm>
            <a:off x="-66617" y="703352"/>
            <a:ext cx="12792017" cy="5877441"/>
            <a:chOff x="-1789757" y="-1743856"/>
            <a:chExt cx="14661331" cy="7836587"/>
          </a:xfrm>
        </p:grpSpPr>
        <p:sp>
          <p:nvSpPr>
            <p:cNvPr id="4" name="TextBox 4">
              <a:extLst>
                <a:ext uri="{FF2B5EF4-FFF2-40B4-BE49-F238E27FC236}">
                  <a16:creationId xmlns:a16="http://schemas.microsoft.com/office/drawing/2014/main" id="{8883D764-0E2F-3813-CF9B-1F2DB69570D5}"/>
                </a:ext>
              </a:extLst>
            </p:cNvPr>
            <p:cNvSpPr txBox="1"/>
            <p:nvPr/>
          </p:nvSpPr>
          <p:spPr>
            <a:xfrm>
              <a:off x="592093" y="2129766"/>
              <a:ext cx="10045294" cy="3962965"/>
            </a:xfrm>
            <a:prstGeom prst="rect">
              <a:avLst/>
            </a:prstGeom>
          </p:spPr>
          <p:txBody>
            <a:bodyPr wrap="square" lIns="0" tIns="0" rIns="0" bIns="0" rtlCol="0" anchor="t">
              <a:spAutoFit/>
            </a:bodyPr>
            <a:lstStyle/>
            <a:p>
              <a:pPr marL="0" marR="0" lvl="0" indent="0" algn="ctr" defTabSz="914400" rtl="0" eaLnBrk="1" fontAlgn="auto" latinLnBrk="0" hangingPunct="1">
                <a:lnSpc>
                  <a:spcPts val="392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RNA-seq Heatmap:</a:t>
              </a:r>
            </a:p>
            <a:p>
              <a:pPr marL="0" marR="0" lvl="0" indent="0" algn="l" defTabSz="914400" rtl="0" eaLnBrk="1" fontAlgn="auto" latinLnBrk="0" hangingPunct="1">
                <a:lnSpc>
                  <a:spcPts val="392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 </a:t>
              </a: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Investigating RNA-seq data across ethnicities for the chosen set of genes.</a:t>
              </a:r>
            </a:p>
            <a:p>
              <a:pPr marL="457200" marR="0" lvl="0" indent="-457200" algn="l"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Heatmap showcasing the gene expression variations in RNA-seq data based on ethnicity.</a:t>
              </a:r>
            </a:p>
          </p:txBody>
        </p:sp>
        <p:sp>
          <p:nvSpPr>
            <p:cNvPr id="5" name="TextBox 5">
              <a:extLst>
                <a:ext uri="{FF2B5EF4-FFF2-40B4-BE49-F238E27FC236}">
                  <a16:creationId xmlns:a16="http://schemas.microsoft.com/office/drawing/2014/main" id="{894C59AD-8BBE-9703-6C03-61EEDCC846A2}"/>
                </a:ext>
              </a:extLst>
            </p:cNvPr>
            <p:cNvSpPr txBox="1"/>
            <p:nvPr/>
          </p:nvSpPr>
          <p:spPr>
            <a:xfrm>
              <a:off x="-1789757" y="-1743856"/>
              <a:ext cx="14661331" cy="2834964"/>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 Visualization of heatmap cont.</a:t>
              </a:r>
            </a:p>
          </p:txBody>
        </p:sp>
      </p:grpSp>
      <p:sp>
        <p:nvSpPr>
          <p:cNvPr id="8" name="TextBox 5">
            <a:extLst>
              <a:ext uri="{FF2B5EF4-FFF2-40B4-BE49-F238E27FC236}">
                <a16:creationId xmlns:a16="http://schemas.microsoft.com/office/drawing/2014/main" id="{6DFD8667-7141-278A-AF37-FBFC02432C8B}"/>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pic>
        <p:nvPicPr>
          <p:cNvPr id="2" name="Google Shape;179;p31">
            <a:extLst>
              <a:ext uri="{FF2B5EF4-FFF2-40B4-BE49-F238E27FC236}">
                <a16:creationId xmlns:a16="http://schemas.microsoft.com/office/drawing/2014/main" id="{0F1F0D7E-0EEF-B9B6-037C-38DAA5EA181E}"/>
              </a:ext>
            </a:extLst>
          </p:cNvPr>
          <p:cNvPicPr preferRelativeResize="0"/>
          <p:nvPr/>
        </p:nvPicPr>
        <p:blipFill rotWithShape="1">
          <a:blip r:embed="rId6">
            <a:alphaModFix/>
          </a:blip>
          <a:srcRect r="1554"/>
          <a:stretch/>
        </p:blipFill>
        <p:spPr>
          <a:xfrm>
            <a:off x="11125200" y="2552700"/>
            <a:ext cx="6601367" cy="6251639"/>
          </a:xfrm>
          <a:prstGeom prst="rect">
            <a:avLst/>
          </a:prstGeom>
          <a:noFill/>
          <a:ln>
            <a:noFill/>
          </a:ln>
        </p:spPr>
      </p:pic>
      <p:sp>
        <p:nvSpPr>
          <p:cNvPr id="6" name="TextBox 4">
            <a:extLst>
              <a:ext uri="{FF2B5EF4-FFF2-40B4-BE49-F238E27FC236}">
                <a16:creationId xmlns:a16="http://schemas.microsoft.com/office/drawing/2014/main" id="{737884C4-4451-9A1F-682B-B45DC1740EF4}"/>
              </a:ext>
            </a:extLst>
          </p:cNvPr>
          <p:cNvSpPr txBox="1"/>
          <p:nvPr/>
        </p:nvSpPr>
        <p:spPr>
          <a:xfrm>
            <a:off x="13868400" y="8987873"/>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9: (</a:t>
            </a:r>
            <a:r>
              <a:rPr lang="en-US" sz="2800" dirty="0">
                <a:solidFill>
                  <a:srgbClr val="2B2B2B"/>
                </a:solidFill>
                <a:latin typeface="Agrandir"/>
              </a:rPr>
              <a:t>c</a:t>
            </a:r>
            <a:r>
              <a:rPr kumimoji="0" lang="en-US" sz="2800" b="0" i="0" u="none" strike="noStrike" kern="1200" cap="none" spc="0" normalizeH="0" baseline="0" noProof="0" dirty="0">
                <a:ln>
                  <a:noFill/>
                </a:ln>
                <a:solidFill>
                  <a:srgbClr val="2B2B2B"/>
                </a:solidFill>
                <a:effectLst/>
                <a:uLnTx/>
                <a:uFillTx/>
                <a:latin typeface="Agrandir"/>
                <a:ea typeface="+mn-ea"/>
                <a:cs typeface="+mn-cs"/>
              </a:rPr>
              <a:t>)</a:t>
            </a:r>
          </a:p>
        </p:txBody>
      </p:sp>
    </p:spTree>
    <p:extLst>
      <p:ext uri="{BB962C8B-B14F-4D97-AF65-F5344CB8AC3E}">
        <p14:creationId xmlns:p14="http://schemas.microsoft.com/office/powerpoint/2010/main" val="3436828191"/>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2237539E-DE58-598D-26EC-31D7BB3A106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6E6533D-7A83-5E1A-6D5F-E1011E832DE7}"/>
              </a:ext>
            </a:extLst>
          </p:cNvPr>
          <p:cNvGrpSpPr/>
          <p:nvPr/>
        </p:nvGrpSpPr>
        <p:grpSpPr>
          <a:xfrm>
            <a:off x="-9271872" y="-1796810"/>
            <a:ext cx="36068097" cy="17593880"/>
            <a:chOff x="-9271872" y="-1796810"/>
            <a:chExt cx="36068097" cy="17593880"/>
          </a:xfrm>
        </p:grpSpPr>
        <p:sp>
          <p:nvSpPr>
            <p:cNvPr id="3" name="Freeform 3">
              <a:extLst>
                <a:ext uri="{FF2B5EF4-FFF2-40B4-BE49-F238E27FC236}">
                  <a16:creationId xmlns:a16="http://schemas.microsoft.com/office/drawing/2014/main" id="{04234034-BA6B-75F9-FBAE-33651F7091D0}"/>
                </a:ext>
              </a:extLst>
            </p:cNvPr>
            <p:cNvSpPr/>
            <p:nvPr/>
          </p:nvSpPr>
          <p:spPr>
            <a:xfrm>
              <a:off x="-9271872" y="3086100"/>
              <a:ext cx="13691472" cy="12710970"/>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9">
              <a:extLst>
                <a:ext uri="{FF2B5EF4-FFF2-40B4-BE49-F238E27FC236}">
                  <a16:creationId xmlns:a16="http://schemas.microsoft.com/office/drawing/2014/main" id="{1D2BB4B4-97F6-29B2-3588-3DCC706319DD}"/>
                </a:ext>
              </a:extLst>
            </p:cNvPr>
            <p:cNvSpPr/>
            <p:nvPr/>
          </p:nvSpPr>
          <p:spPr>
            <a:xfrm rot="20352317">
              <a:off x="16612040" y="-1796810"/>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8" name="TextBox 5">
            <a:extLst>
              <a:ext uri="{FF2B5EF4-FFF2-40B4-BE49-F238E27FC236}">
                <a16:creationId xmlns:a16="http://schemas.microsoft.com/office/drawing/2014/main" id="{5ECCFCC8-B714-3921-D635-3800975193A2}"/>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grpSp>
        <p:nvGrpSpPr>
          <p:cNvPr id="7" name="Group 6">
            <a:extLst>
              <a:ext uri="{FF2B5EF4-FFF2-40B4-BE49-F238E27FC236}">
                <a16:creationId xmlns:a16="http://schemas.microsoft.com/office/drawing/2014/main" id="{812D22CD-AE44-B1F5-1827-5B0D8999A563}"/>
              </a:ext>
            </a:extLst>
          </p:cNvPr>
          <p:cNvGrpSpPr/>
          <p:nvPr/>
        </p:nvGrpSpPr>
        <p:grpSpPr>
          <a:xfrm>
            <a:off x="-66617" y="703352"/>
            <a:ext cx="12106217" cy="7426671"/>
            <a:chOff x="-66617" y="703352"/>
            <a:chExt cx="12106217" cy="7426671"/>
          </a:xfrm>
        </p:grpSpPr>
        <p:sp>
          <p:nvSpPr>
            <p:cNvPr id="5" name="TextBox 5">
              <a:extLst>
                <a:ext uri="{FF2B5EF4-FFF2-40B4-BE49-F238E27FC236}">
                  <a16:creationId xmlns:a16="http://schemas.microsoft.com/office/drawing/2014/main" id="{F88FBAB8-C811-26EB-8DAF-1A14CB00D069}"/>
                </a:ext>
              </a:extLst>
            </p:cNvPr>
            <p:cNvSpPr txBox="1"/>
            <p:nvPr/>
          </p:nvSpPr>
          <p:spPr>
            <a:xfrm>
              <a:off x="-66617" y="703352"/>
              <a:ext cx="12106217" cy="212622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Scatter plots</a:t>
              </a:r>
            </a:p>
          </p:txBody>
        </p:sp>
        <p:sp>
          <p:nvSpPr>
            <p:cNvPr id="6" name="TextBox 4">
              <a:extLst>
                <a:ext uri="{FF2B5EF4-FFF2-40B4-BE49-F238E27FC236}">
                  <a16:creationId xmlns:a16="http://schemas.microsoft.com/office/drawing/2014/main" id="{677DB699-75E5-4D2A-C218-734F53965911}"/>
                </a:ext>
              </a:extLst>
            </p:cNvPr>
            <p:cNvSpPr txBox="1"/>
            <p:nvPr/>
          </p:nvSpPr>
          <p:spPr>
            <a:xfrm>
              <a:off x="1981200" y="3657388"/>
              <a:ext cx="8764523" cy="4472635"/>
            </a:xfrm>
            <a:prstGeom prst="rect">
              <a:avLst/>
            </a:prstGeom>
          </p:spPr>
          <p:txBody>
            <a:bodyPr wrap="square" lIns="0" tIns="0" rIns="0" bIns="0" rtlCol="0" anchor="t">
              <a:spAutoFit/>
            </a:bodyPr>
            <a:lstStyle/>
            <a:p>
              <a:pPr marL="0" marR="0" lvl="0" indent="0" algn="ctr" defTabSz="914400" rtl="0" eaLnBrk="1" fontAlgn="auto" latinLnBrk="0" hangingPunct="1">
                <a:lnSpc>
                  <a:spcPts val="392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Methylation Scatter plot:</a:t>
              </a:r>
            </a:p>
            <a:p>
              <a:pPr marL="0" marR="0" lvl="0" indent="0" algn="ctr" defTabSz="914400" rtl="0" eaLnBrk="1" fontAlgn="auto" latinLnBrk="0" hangingPunct="1">
                <a:lnSpc>
                  <a:spcPts val="3920"/>
                </a:lnSpc>
                <a:spcBef>
                  <a:spcPct val="0"/>
                </a:spcBef>
                <a:spcAft>
                  <a:spcPts val="0"/>
                </a:spcAft>
                <a:buClrTx/>
                <a:buSzTx/>
                <a:buFontTx/>
                <a:buNone/>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Scatter plot representing the relationship between methylation levels, gender, and selected genes.</a:t>
              </a: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Visualizing the scatter plot of methylation data, highlighting gender-specific patterns for certain genes.</a:t>
              </a:r>
            </a:p>
          </p:txBody>
        </p:sp>
      </p:grpSp>
      <p:pic>
        <p:nvPicPr>
          <p:cNvPr id="9" name="Picture 8">
            <a:extLst>
              <a:ext uri="{FF2B5EF4-FFF2-40B4-BE49-F238E27FC236}">
                <a16:creationId xmlns:a16="http://schemas.microsoft.com/office/drawing/2014/main" id="{4E15B2F4-10D4-F53B-BA2C-A0409B2D5CD2}"/>
              </a:ext>
            </a:extLst>
          </p:cNvPr>
          <p:cNvPicPr>
            <a:picLocks noChangeAspect="1"/>
          </p:cNvPicPr>
          <p:nvPr/>
        </p:nvPicPr>
        <p:blipFill rotWithShape="1">
          <a:blip r:embed="rId6"/>
          <a:srcRect t="1367"/>
          <a:stretch/>
        </p:blipFill>
        <p:spPr>
          <a:xfrm>
            <a:off x="11277600" y="1824715"/>
            <a:ext cx="6598747" cy="6944061"/>
          </a:xfrm>
          <a:prstGeom prst="rect">
            <a:avLst/>
          </a:prstGeom>
        </p:spPr>
      </p:pic>
      <p:sp>
        <p:nvSpPr>
          <p:cNvPr id="11" name="TextBox 4">
            <a:extLst>
              <a:ext uri="{FF2B5EF4-FFF2-40B4-BE49-F238E27FC236}">
                <a16:creationId xmlns:a16="http://schemas.microsoft.com/office/drawing/2014/main" id="{B60520DB-72BF-D3F6-29F6-869CA196E56A}"/>
              </a:ext>
            </a:extLst>
          </p:cNvPr>
          <p:cNvSpPr txBox="1"/>
          <p:nvPr/>
        </p:nvSpPr>
        <p:spPr>
          <a:xfrm>
            <a:off x="13868400" y="8987873"/>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a:t>
            </a:r>
            <a:r>
              <a:rPr lang="en-US" sz="2800" noProof="0" dirty="0">
                <a:solidFill>
                  <a:srgbClr val="2B2B2B"/>
                </a:solidFill>
                <a:latin typeface="Agrandir"/>
              </a:rPr>
              <a:t>10</a:t>
            </a:r>
            <a:r>
              <a:rPr kumimoji="0" lang="en-US" sz="2800" b="0" i="0" u="none" strike="noStrike" kern="1200" cap="none" spc="0" normalizeH="0" baseline="0" noProof="0" dirty="0">
                <a:ln>
                  <a:noFill/>
                </a:ln>
                <a:solidFill>
                  <a:srgbClr val="2B2B2B"/>
                </a:solidFill>
                <a:effectLst/>
                <a:uLnTx/>
                <a:uFillTx/>
                <a:latin typeface="Agrandir"/>
                <a:ea typeface="+mn-ea"/>
                <a:cs typeface="+mn-cs"/>
              </a:rPr>
              <a:t>: (a)</a:t>
            </a:r>
          </a:p>
        </p:txBody>
      </p:sp>
    </p:spTree>
    <p:extLst>
      <p:ext uri="{BB962C8B-B14F-4D97-AF65-F5344CB8AC3E}">
        <p14:creationId xmlns:p14="http://schemas.microsoft.com/office/powerpoint/2010/main" val="61397455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2D0D4056-9D43-5C6E-CA0A-78026DE32188}"/>
            </a:ext>
          </a:extLst>
        </p:cNvPr>
        <p:cNvGrpSpPr/>
        <p:nvPr/>
      </p:nvGrpSpPr>
      <p:grpSpPr>
        <a:xfrm>
          <a:off x="0" y="0"/>
          <a:ext cx="0" cy="0"/>
          <a:chOff x="0" y="0"/>
          <a:chExt cx="0" cy="0"/>
        </a:xfrm>
      </p:grpSpPr>
      <p:sp>
        <p:nvSpPr>
          <p:cNvPr id="12" name="Freeform 3">
            <a:extLst>
              <a:ext uri="{FF2B5EF4-FFF2-40B4-BE49-F238E27FC236}">
                <a16:creationId xmlns:a16="http://schemas.microsoft.com/office/drawing/2014/main" id="{4390572F-17B4-575F-9363-833FC8E3930F}"/>
              </a:ext>
            </a:extLst>
          </p:cNvPr>
          <p:cNvSpPr/>
          <p:nvPr/>
        </p:nvSpPr>
        <p:spPr>
          <a:xfrm>
            <a:off x="8826742" y="3086100"/>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9">
            <a:extLst>
              <a:ext uri="{FF2B5EF4-FFF2-40B4-BE49-F238E27FC236}">
                <a16:creationId xmlns:a16="http://schemas.microsoft.com/office/drawing/2014/main" id="{DA1A1E11-B950-4F36-E748-D09AEB45C8CF}"/>
              </a:ext>
            </a:extLst>
          </p:cNvPr>
          <p:cNvSpPr/>
          <p:nvPr/>
        </p:nvSpPr>
        <p:spPr>
          <a:xfrm rot="20352317">
            <a:off x="-1967484" y="-1845629"/>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5">
            <a:extLst>
              <a:ext uri="{FF2B5EF4-FFF2-40B4-BE49-F238E27FC236}">
                <a16:creationId xmlns:a16="http://schemas.microsoft.com/office/drawing/2014/main" id="{5B01B652-9D73-B9F0-5655-C508490B4ADF}"/>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grpSp>
        <p:nvGrpSpPr>
          <p:cNvPr id="7" name="Group 6">
            <a:extLst>
              <a:ext uri="{FF2B5EF4-FFF2-40B4-BE49-F238E27FC236}">
                <a16:creationId xmlns:a16="http://schemas.microsoft.com/office/drawing/2014/main" id="{05A8B868-9F0C-7B91-8D3E-C43A785CF13C}"/>
              </a:ext>
            </a:extLst>
          </p:cNvPr>
          <p:cNvGrpSpPr/>
          <p:nvPr/>
        </p:nvGrpSpPr>
        <p:grpSpPr>
          <a:xfrm>
            <a:off x="-66617" y="703352"/>
            <a:ext cx="12106217" cy="6926534"/>
            <a:chOff x="-66617" y="703352"/>
            <a:chExt cx="12106217" cy="6926534"/>
          </a:xfrm>
        </p:grpSpPr>
        <p:sp>
          <p:nvSpPr>
            <p:cNvPr id="5" name="TextBox 5">
              <a:extLst>
                <a:ext uri="{FF2B5EF4-FFF2-40B4-BE49-F238E27FC236}">
                  <a16:creationId xmlns:a16="http://schemas.microsoft.com/office/drawing/2014/main" id="{081E0A50-DDF4-0C74-CF09-57B4DE1D5452}"/>
                </a:ext>
              </a:extLst>
            </p:cNvPr>
            <p:cNvSpPr txBox="1"/>
            <p:nvPr/>
          </p:nvSpPr>
          <p:spPr>
            <a:xfrm>
              <a:off x="-66617" y="703352"/>
              <a:ext cx="12106217" cy="212622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Scatter plots cont.</a:t>
              </a:r>
            </a:p>
          </p:txBody>
        </p:sp>
        <p:sp>
          <p:nvSpPr>
            <p:cNvPr id="6" name="TextBox 4">
              <a:extLst>
                <a:ext uri="{FF2B5EF4-FFF2-40B4-BE49-F238E27FC236}">
                  <a16:creationId xmlns:a16="http://schemas.microsoft.com/office/drawing/2014/main" id="{D6ED1D0F-A268-5C44-A0CB-8A4A9E1792F2}"/>
                </a:ext>
              </a:extLst>
            </p:cNvPr>
            <p:cNvSpPr txBox="1"/>
            <p:nvPr/>
          </p:nvSpPr>
          <p:spPr>
            <a:xfrm>
              <a:off x="1981200" y="3657388"/>
              <a:ext cx="8764523" cy="3972498"/>
            </a:xfrm>
            <a:prstGeom prst="rect">
              <a:avLst/>
            </a:prstGeom>
          </p:spPr>
          <p:txBody>
            <a:bodyPr wrap="square" lIns="0" tIns="0" rIns="0" bIns="0" rtlCol="0" anchor="t">
              <a:spAutoFit/>
            </a:bodyPr>
            <a:lstStyle/>
            <a:p>
              <a:pPr marL="0" marR="0" lvl="0" indent="0" algn="ctr" defTabSz="914400" rtl="0" eaLnBrk="1" fontAlgn="auto" latinLnBrk="0" hangingPunct="1">
                <a:lnSpc>
                  <a:spcPts val="392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miRNA Scatter plot:</a:t>
              </a:r>
            </a:p>
            <a:p>
              <a:pPr marL="0" marR="0" lvl="0" indent="0" algn="ctr" defTabSz="914400" rtl="0" eaLnBrk="1" fontAlgn="auto" latinLnBrk="0" hangingPunct="1">
                <a:lnSpc>
                  <a:spcPts val="3920"/>
                </a:lnSpc>
                <a:spcBef>
                  <a:spcPct val="0"/>
                </a:spcBef>
                <a:spcAft>
                  <a:spcPts val="0"/>
                </a:spcAft>
                <a:buClrTx/>
                <a:buSzTx/>
                <a:buFontTx/>
                <a:buNone/>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Scatter plot revealing the connection between miRNA expression, status, and gene names.</a:t>
              </a: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Analyzing the scatter plot of miRNA data, emphasizing the correlation with different statuses for specific genes.</a:t>
              </a:r>
            </a:p>
          </p:txBody>
        </p:sp>
      </p:grpSp>
      <p:pic>
        <p:nvPicPr>
          <p:cNvPr id="2" name="Picture 1">
            <a:extLst>
              <a:ext uri="{FF2B5EF4-FFF2-40B4-BE49-F238E27FC236}">
                <a16:creationId xmlns:a16="http://schemas.microsoft.com/office/drawing/2014/main" id="{59F07D52-880C-7FB4-D0B3-36B388CE0055}"/>
              </a:ext>
            </a:extLst>
          </p:cNvPr>
          <p:cNvPicPr>
            <a:picLocks noChangeAspect="1"/>
          </p:cNvPicPr>
          <p:nvPr/>
        </p:nvPicPr>
        <p:blipFill>
          <a:blip r:embed="rId6"/>
          <a:stretch>
            <a:fillRect/>
          </a:stretch>
        </p:blipFill>
        <p:spPr>
          <a:xfrm>
            <a:off x="11430169" y="1839432"/>
            <a:ext cx="6296894" cy="6683899"/>
          </a:xfrm>
          <a:prstGeom prst="rect">
            <a:avLst/>
          </a:prstGeom>
        </p:spPr>
      </p:pic>
      <p:sp>
        <p:nvSpPr>
          <p:cNvPr id="3" name="TextBox 4">
            <a:extLst>
              <a:ext uri="{FF2B5EF4-FFF2-40B4-BE49-F238E27FC236}">
                <a16:creationId xmlns:a16="http://schemas.microsoft.com/office/drawing/2014/main" id="{69DC0B90-6D03-D260-6CF2-D669AE1DD8E8}"/>
              </a:ext>
            </a:extLst>
          </p:cNvPr>
          <p:cNvSpPr txBox="1"/>
          <p:nvPr/>
        </p:nvSpPr>
        <p:spPr>
          <a:xfrm>
            <a:off x="13868400" y="8987873"/>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10: (</a:t>
            </a:r>
            <a:r>
              <a:rPr lang="en-US" sz="2800" dirty="0">
                <a:solidFill>
                  <a:srgbClr val="2B2B2B"/>
                </a:solidFill>
                <a:latin typeface="Agrandir"/>
              </a:rPr>
              <a:t>b</a:t>
            </a:r>
            <a:r>
              <a:rPr kumimoji="0" lang="en-US" sz="2800" b="0" i="0" u="none" strike="noStrike" kern="1200" cap="none" spc="0" normalizeH="0" baseline="0" noProof="0" dirty="0">
                <a:ln>
                  <a:noFill/>
                </a:ln>
                <a:solidFill>
                  <a:srgbClr val="2B2B2B"/>
                </a:solidFill>
                <a:effectLst/>
                <a:uLnTx/>
                <a:uFillTx/>
                <a:latin typeface="Agrandir"/>
                <a:ea typeface="+mn-ea"/>
                <a:cs typeface="+mn-cs"/>
              </a:rPr>
              <a:t>)</a:t>
            </a:r>
          </a:p>
        </p:txBody>
      </p:sp>
    </p:spTree>
    <p:extLst>
      <p:ext uri="{BB962C8B-B14F-4D97-AF65-F5344CB8AC3E}">
        <p14:creationId xmlns:p14="http://schemas.microsoft.com/office/powerpoint/2010/main" val="360258630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0D000F05-1F16-7B8F-6C9D-674C1F4F9A8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A2BE4C9-2DD2-3183-0E67-5943E7DB37D8}"/>
              </a:ext>
            </a:extLst>
          </p:cNvPr>
          <p:cNvGrpSpPr/>
          <p:nvPr/>
        </p:nvGrpSpPr>
        <p:grpSpPr>
          <a:xfrm>
            <a:off x="-9271872" y="-1796810"/>
            <a:ext cx="36068097" cy="17593880"/>
            <a:chOff x="-9271872" y="-1796810"/>
            <a:chExt cx="36068097" cy="17593880"/>
          </a:xfrm>
        </p:grpSpPr>
        <p:sp>
          <p:nvSpPr>
            <p:cNvPr id="3" name="Freeform 3">
              <a:extLst>
                <a:ext uri="{FF2B5EF4-FFF2-40B4-BE49-F238E27FC236}">
                  <a16:creationId xmlns:a16="http://schemas.microsoft.com/office/drawing/2014/main" id="{E5C60EA2-663C-24FA-D792-B8C67823ECC7}"/>
                </a:ext>
              </a:extLst>
            </p:cNvPr>
            <p:cNvSpPr/>
            <p:nvPr/>
          </p:nvSpPr>
          <p:spPr>
            <a:xfrm>
              <a:off x="-9271872" y="3086100"/>
              <a:ext cx="13691472" cy="12710970"/>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a:extLst>
                <a:ext uri="{FF2B5EF4-FFF2-40B4-BE49-F238E27FC236}">
                  <a16:creationId xmlns:a16="http://schemas.microsoft.com/office/drawing/2014/main" id="{746ACD56-F331-F387-4C89-4ABA6C96FBDE}"/>
                </a:ext>
              </a:extLst>
            </p:cNvPr>
            <p:cNvSpPr/>
            <p:nvPr/>
          </p:nvSpPr>
          <p:spPr>
            <a:xfrm rot="20352317">
              <a:off x="16612040" y="-1796810"/>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8" name="TextBox 5">
            <a:extLst>
              <a:ext uri="{FF2B5EF4-FFF2-40B4-BE49-F238E27FC236}">
                <a16:creationId xmlns:a16="http://schemas.microsoft.com/office/drawing/2014/main" id="{EFEFD1B4-3490-B7DC-4394-A8CA0BC1CD16}"/>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grpSp>
        <p:nvGrpSpPr>
          <p:cNvPr id="7" name="Group 6">
            <a:extLst>
              <a:ext uri="{FF2B5EF4-FFF2-40B4-BE49-F238E27FC236}">
                <a16:creationId xmlns:a16="http://schemas.microsoft.com/office/drawing/2014/main" id="{ECEB12A9-EFC4-3DE0-3780-A654074A4752}"/>
              </a:ext>
            </a:extLst>
          </p:cNvPr>
          <p:cNvGrpSpPr/>
          <p:nvPr/>
        </p:nvGrpSpPr>
        <p:grpSpPr>
          <a:xfrm>
            <a:off x="-66617" y="703352"/>
            <a:ext cx="12106217" cy="7426286"/>
            <a:chOff x="-66617" y="703352"/>
            <a:chExt cx="12106217" cy="7426286"/>
          </a:xfrm>
        </p:grpSpPr>
        <p:sp>
          <p:nvSpPr>
            <p:cNvPr id="5" name="TextBox 5">
              <a:extLst>
                <a:ext uri="{FF2B5EF4-FFF2-40B4-BE49-F238E27FC236}">
                  <a16:creationId xmlns:a16="http://schemas.microsoft.com/office/drawing/2014/main" id="{C619E310-E3BB-006E-1D80-CD29BF5876C5}"/>
                </a:ext>
              </a:extLst>
            </p:cNvPr>
            <p:cNvSpPr txBox="1"/>
            <p:nvPr/>
          </p:nvSpPr>
          <p:spPr>
            <a:xfrm>
              <a:off x="-66617" y="703352"/>
              <a:ext cx="12106217" cy="212622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Visualization of Scatter plots cont.</a:t>
              </a:r>
            </a:p>
          </p:txBody>
        </p:sp>
        <p:sp>
          <p:nvSpPr>
            <p:cNvPr id="6" name="TextBox 4">
              <a:extLst>
                <a:ext uri="{FF2B5EF4-FFF2-40B4-BE49-F238E27FC236}">
                  <a16:creationId xmlns:a16="http://schemas.microsoft.com/office/drawing/2014/main" id="{FB23082E-6C3D-6D87-5358-924BCB44E25D}"/>
                </a:ext>
              </a:extLst>
            </p:cNvPr>
            <p:cNvSpPr txBox="1"/>
            <p:nvPr/>
          </p:nvSpPr>
          <p:spPr>
            <a:xfrm>
              <a:off x="1981200" y="3657388"/>
              <a:ext cx="8764523" cy="4472250"/>
            </a:xfrm>
            <a:prstGeom prst="rect">
              <a:avLst/>
            </a:prstGeom>
          </p:spPr>
          <p:txBody>
            <a:bodyPr wrap="square" lIns="0" tIns="0" rIns="0" bIns="0" rtlCol="0" anchor="t">
              <a:spAutoFit/>
            </a:bodyPr>
            <a:lstStyle/>
            <a:p>
              <a:pPr marL="0" marR="0" lvl="0" indent="0" algn="ctr" defTabSz="914400" rtl="0" eaLnBrk="1" fontAlgn="auto" latinLnBrk="0" hangingPunct="1">
                <a:lnSpc>
                  <a:spcPts val="392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RNA-seq Scatter plot:</a:t>
              </a:r>
            </a:p>
            <a:p>
              <a:pPr marL="0" marR="0" lvl="0" indent="0" algn="ctr" defTabSz="914400" rtl="0" eaLnBrk="1" fontAlgn="auto" latinLnBrk="0" hangingPunct="1">
                <a:lnSpc>
                  <a:spcPts val="3920"/>
                </a:lnSpc>
                <a:spcBef>
                  <a:spcPct val="0"/>
                </a:spcBef>
                <a:spcAft>
                  <a:spcPts val="0"/>
                </a:spcAft>
                <a:buClrTx/>
                <a:buSzTx/>
                <a:buFontTx/>
                <a:buNone/>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Scatter plot illustrating RNA-seq data, showcasing the interplay between ethnicity and gene expression.</a:t>
              </a: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L="457200" marR="0" lvl="0" indent="-457200" defTabSz="914400" rtl="0" eaLnBrk="1" fontAlgn="auto" latinLnBrk="0" hangingPunct="1">
                <a:lnSpc>
                  <a:spcPts val="3920"/>
                </a:lnSpc>
                <a:spcBef>
                  <a:spcPct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Exploring the scatter plot of RNA-seq data, emphasizing the impact of ethnicity on the expression of selected genes.</a:t>
              </a:r>
            </a:p>
          </p:txBody>
        </p:sp>
      </p:grpSp>
      <p:pic>
        <p:nvPicPr>
          <p:cNvPr id="4" name="Picture 3">
            <a:extLst>
              <a:ext uri="{FF2B5EF4-FFF2-40B4-BE49-F238E27FC236}">
                <a16:creationId xmlns:a16="http://schemas.microsoft.com/office/drawing/2014/main" id="{244339CA-E8CA-FF8B-645A-F14C83D6CE2B}"/>
              </a:ext>
            </a:extLst>
          </p:cNvPr>
          <p:cNvPicPr>
            <a:picLocks noChangeAspect="1"/>
          </p:cNvPicPr>
          <p:nvPr/>
        </p:nvPicPr>
        <p:blipFill>
          <a:blip r:embed="rId6"/>
          <a:stretch>
            <a:fillRect/>
          </a:stretch>
        </p:blipFill>
        <p:spPr>
          <a:xfrm>
            <a:off x="11707508" y="1874328"/>
            <a:ext cx="5883757" cy="6538343"/>
          </a:xfrm>
          <a:prstGeom prst="rect">
            <a:avLst/>
          </a:prstGeom>
        </p:spPr>
      </p:pic>
      <p:sp>
        <p:nvSpPr>
          <p:cNvPr id="11" name="TextBox 4">
            <a:extLst>
              <a:ext uri="{FF2B5EF4-FFF2-40B4-BE49-F238E27FC236}">
                <a16:creationId xmlns:a16="http://schemas.microsoft.com/office/drawing/2014/main" id="{67EC6454-4EC5-E8F6-C855-CCE02671A78E}"/>
              </a:ext>
            </a:extLst>
          </p:cNvPr>
          <p:cNvSpPr txBox="1"/>
          <p:nvPr/>
        </p:nvSpPr>
        <p:spPr>
          <a:xfrm>
            <a:off x="13868400" y="8987873"/>
            <a:ext cx="2667000" cy="471539"/>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Fig </a:t>
            </a:r>
            <a:r>
              <a:rPr lang="en-US" sz="2800" noProof="0" dirty="0">
                <a:solidFill>
                  <a:srgbClr val="2B2B2B"/>
                </a:solidFill>
                <a:latin typeface="Agrandir"/>
              </a:rPr>
              <a:t>10</a:t>
            </a:r>
            <a:r>
              <a:rPr kumimoji="0" lang="en-US" sz="2800" b="0" i="0" u="none" strike="noStrike" kern="1200" cap="none" spc="0" normalizeH="0" baseline="0" noProof="0" dirty="0">
                <a:ln>
                  <a:noFill/>
                </a:ln>
                <a:solidFill>
                  <a:srgbClr val="2B2B2B"/>
                </a:solidFill>
                <a:effectLst/>
                <a:uLnTx/>
                <a:uFillTx/>
                <a:latin typeface="Agrandir"/>
                <a:ea typeface="+mn-ea"/>
                <a:cs typeface="+mn-cs"/>
              </a:rPr>
              <a:t>: (</a:t>
            </a:r>
            <a:r>
              <a:rPr lang="en-US" sz="2800" dirty="0">
                <a:solidFill>
                  <a:srgbClr val="2B2B2B"/>
                </a:solidFill>
                <a:latin typeface="Agrandir"/>
              </a:rPr>
              <a:t>c</a:t>
            </a:r>
            <a:r>
              <a:rPr kumimoji="0" lang="en-US" sz="2800" b="0" i="0" u="none" strike="noStrike" kern="1200" cap="none" spc="0" normalizeH="0" baseline="0" noProof="0" dirty="0">
                <a:ln>
                  <a:noFill/>
                </a:ln>
                <a:solidFill>
                  <a:srgbClr val="2B2B2B"/>
                </a:solidFill>
                <a:effectLst/>
                <a:uLnTx/>
                <a:uFillTx/>
                <a:latin typeface="Agrandir"/>
                <a:ea typeface="+mn-ea"/>
                <a:cs typeface="+mn-cs"/>
              </a:rPr>
              <a:t>)</a:t>
            </a:r>
          </a:p>
        </p:txBody>
      </p:sp>
    </p:spTree>
    <p:extLst>
      <p:ext uri="{BB962C8B-B14F-4D97-AF65-F5344CB8AC3E}">
        <p14:creationId xmlns:p14="http://schemas.microsoft.com/office/powerpoint/2010/main" val="29891387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0B9F343C-1A88-ED4A-7ED3-EB097C90F19E}"/>
            </a:ext>
          </a:extLst>
        </p:cNvPr>
        <p:cNvGrpSpPr/>
        <p:nvPr/>
      </p:nvGrpSpPr>
      <p:grpSpPr>
        <a:xfrm>
          <a:off x="0" y="0"/>
          <a:ext cx="0" cy="0"/>
          <a:chOff x="0" y="0"/>
          <a:chExt cx="0" cy="0"/>
        </a:xfrm>
      </p:grpSpPr>
      <p:sp>
        <p:nvSpPr>
          <p:cNvPr id="12" name="Freeform 3">
            <a:extLst>
              <a:ext uri="{FF2B5EF4-FFF2-40B4-BE49-F238E27FC236}">
                <a16:creationId xmlns:a16="http://schemas.microsoft.com/office/drawing/2014/main" id="{C80B4C19-2D9D-68D8-F943-82CF4E740085}"/>
              </a:ext>
            </a:extLst>
          </p:cNvPr>
          <p:cNvSpPr/>
          <p:nvPr/>
        </p:nvSpPr>
        <p:spPr>
          <a:xfrm>
            <a:off x="8826742" y="3086100"/>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9">
            <a:extLst>
              <a:ext uri="{FF2B5EF4-FFF2-40B4-BE49-F238E27FC236}">
                <a16:creationId xmlns:a16="http://schemas.microsoft.com/office/drawing/2014/main" id="{90AB1E14-9FD6-7186-A24E-3F467F3C2A1E}"/>
              </a:ext>
            </a:extLst>
          </p:cNvPr>
          <p:cNvSpPr/>
          <p:nvPr/>
        </p:nvSpPr>
        <p:spPr>
          <a:xfrm rot="20352317">
            <a:off x="-1967484" y="-1845629"/>
            <a:ext cx="10184185" cy="530530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 name="Group 3">
            <a:extLst>
              <a:ext uri="{FF2B5EF4-FFF2-40B4-BE49-F238E27FC236}">
                <a16:creationId xmlns:a16="http://schemas.microsoft.com/office/drawing/2014/main" id="{08987251-6A46-C448-205C-B38C4C875774}"/>
              </a:ext>
            </a:extLst>
          </p:cNvPr>
          <p:cNvGrpSpPr/>
          <p:nvPr/>
        </p:nvGrpSpPr>
        <p:grpSpPr>
          <a:xfrm>
            <a:off x="-66617" y="703352"/>
            <a:ext cx="17135419" cy="9058237"/>
            <a:chOff x="-1789757" y="-1743856"/>
            <a:chExt cx="19639439" cy="12077648"/>
          </a:xfrm>
        </p:grpSpPr>
        <p:sp>
          <p:nvSpPr>
            <p:cNvPr id="4" name="TextBox 4">
              <a:extLst>
                <a:ext uri="{FF2B5EF4-FFF2-40B4-BE49-F238E27FC236}">
                  <a16:creationId xmlns:a16="http://schemas.microsoft.com/office/drawing/2014/main" id="{30D1EFE0-C1CE-1B7B-B628-01685687B290}"/>
                </a:ext>
              </a:extLst>
            </p:cNvPr>
            <p:cNvSpPr txBox="1"/>
            <p:nvPr/>
          </p:nvSpPr>
          <p:spPr>
            <a:xfrm>
              <a:off x="-54036" y="-58794"/>
              <a:ext cx="17903718" cy="10392586"/>
            </a:xfrm>
            <a:prstGeom prst="rect">
              <a:avLst/>
            </a:prstGeom>
          </p:spPr>
          <p:txBody>
            <a:bodyPr wrap="square" lIns="0" tIns="0" rIns="0" bIns="0" rtlCol="0" anchor="t">
              <a:spAutoFit/>
            </a:bodyPr>
            <a:lstStyle/>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Multi-omics studies enrich our grasp of biological processes across diverse molecular layers. Nevertheless, the challenge lies in effectively integrating heterogeneous datasets from these studies. Addressing this gap, we present Multi-Omics Factor Analysis (MOFA), a computational tool unveiling primary sources of variation in multi-omics datasets. </a:t>
              </a:r>
            </a:p>
            <a:p>
              <a:pPr marR="0" lvl="0" algn="ctr"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MOFA deploys statistical modeling to infer hidden factors capturing both biological and technical variability. It discerns shared heterogeneity across modalities and specificity to individual data types. Learning these factors empowers downstream analyses, including subgroup identification, missing data imputation, and outlier detection. </a:t>
              </a:r>
            </a:p>
            <a:p>
              <a:pPr marR="0" lvl="0" algn="ctr"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marR="0" lvl="0" algn="ctr" defTabSz="914400" rtl="0" eaLnBrk="1" fontAlgn="auto" latinLnBrk="0" hangingPunct="1">
                <a:lnSpc>
                  <a:spcPts val="3920"/>
                </a:lnSpc>
                <a:spcBef>
                  <a:spcPct val="0"/>
                </a:spcBef>
                <a:spcAft>
                  <a:spcPts val="0"/>
                </a:spcAft>
                <a:buClrTx/>
                <a:buSzTx/>
                <a:tabLst/>
                <a:defRPr/>
              </a:pPr>
              <a:r>
                <a:rPr kumimoji="0" lang="en-US" sz="2800" b="0" i="0" u="none" strike="noStrike" kern="1200" cap="none" spc="0" normalizeH="0" baseline="0" noProof="0" dirty="0">
                  <a:ln>
                    <a:noFill/>
                  </a:ln>
                  <a:solidFill>
                    <a:srgbClr val="2B2B2B"/>
                  </a:solidFill>
                  <a:effectLst/>
                  <a:uLnTx/>
                  <a:uFillTx/>
                  <a:latin typeface="Agrandir"/>
                  <a:ea typeface="+mn-ea"/>
                  <a:cs typeface="+mn-cs"/>
                </a:rPr>
                <a:t>In our AML patient study, MOFA was applied to a cohort of 200 samples, profiling miRNA, RNA-seq, and DNA methylation.</a:t>
              </a:r>
            </a:p>
            <a:p>
              <a:pPr marR="0" lvl="0" algn="ctr" defTabSz="914400" rtl="0" eaLnBrk="1" fontAlgn="auto" latinLnBrk="0" hangingPunct="1">
                <a:lnSpc>
                  <a:spcPts val="3920"/>
                </a:lnSpc>
                <a:spcBef>
                  <a:spcPct val="0"/>
                </a:spcBef>
                <a:spcAft>
                  <a:spcPts val="0"/>
                </a:spcAft>
                <a:buClrTx/>
                <a:buSzTx/>
                <a:tabLst/>
                <a:defRPr/>
              </a:pP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a:p>
              <a:pPr algn="ctr"/>
              <a:r>
                <a:rPr lang="en-US" sz="2800" dirty="0">
                  <a:solidFill>
                    <a:srgbClr val="2B2B2B"/>
                  </a:solidFill>
                  <a:latin typeface="Agrandir"/>
                </a:rPr>
                <a:t>Link of our code :</a:t>
              </a:r>
              <a:r>
                <a:rPr lang="en-US" sz="2800" dirty="0"/>
                <a:t>https://drive.google.com/drive/u/0/folders/</a:t>
              </a:r>
            </a:p>
            <a:p>
              <a:pPr algn="ctr"/>
              <a:r>
                <a:rPr lang="en-US" sz="2800" dirty="0"/>
                <a:t>1odUuYqc_rV7ACmGFUI4Ar3OeVEvDqyfx</a:t>
              </a:r>
            </a:p>
            <a:p>
              <a:pPr algn="ctr"/>
              <a:endParaRPr kumimoji="0" lang="en-US" sz="2800" b="0" i="0" u="none" strike="noStrike" kern="1200" cap="none" spc="0" normalizeH="0" baseline="0" noProof="0" dirty="0">
                <a:ln>
                  <a:noFill/>
                </a:ln>
                <a:solidFill>
                  <a:srgbClr val="2B2B2B"/>
                </a:solidFill>
                <a:effectLst/>
                <a:uLnTx/>
                <a:uFillTx/>
                <a:latin typeface="Agrandir"/>
                <a:ea typeface="+mn-ea"/>
                <a:cs typeface="+mn-cs"/>
              </a:endParaRPr>
            </a:p>
          </p:txBody>
        </p:sp>
        <p:sp>
          <p:nvSpPr>
            <p:cNvPr id="5" name="TextBox 5">
              <a:extLst>
                <a:ext uri="{FF2B5EF4-FFF2-40B4-BE49-F238E27FC236}">
                  <a16:creationId xmlns:a16="http://schemas.microsoft.com/office/drawing/2014/main" id="{8913562F-FE4C-3D83-BF9A-46BB0B9AA375}"/>
                </a:ext>
              </a:extLst>
            </p:cNvPr>
            <p:cNvSpPr txBox="1"/>
            <p:nvPr/>
          </p:nvSpPr>
          <p:spPr>
            <a:xfrm>
              <a:off x="-1789757" y="-1743856"/>
              <a:ext cx="8809872" cy="1398673"/>
            </a:xfrm>
            <a:prstGeom prst="rect">
              <a:avLst/>
            </a:prstGeom>
          </p:spPr>
          <p:txBody>
            <a:bodyPr wrap="square" lIns="0" tIns="0" rIns="0" bIns="0" rtlCol="0" anchor="t">
              <a:spAutoFit/>
            </a:bodyPr>
            <a:lstStyle/>
            <a:p>
              <a:pPr marL="0" marR="0" lvl="0" indent="0" algn="ctr" defTabSz="914400" rtl="0" eaLnBrk="1" fontAlgn="auto" latinLnBrk="0" hangingPunct="1">
                <a:lnSpc>
                  <a:spcPts val="8399"/>
                </a:lnSpc>
                <a:spcBef>
                  <a:spcPct val="0"/>
                </a:spcBef>
                <a:spcAft>
                  <a:spcPts val="0"/>
                </a:spcAft>
                <a:buClrTx/>
                <a:buSzTx/>
                <a:buFontTx/>
                <a:buNone/>
                <a:tabLst/>
                <a:defRPr/>
              </a:pPr>
              <a:r>
                <a:rPr kumimoji="0" lang="en-US" sz="6999" b="0" i="0" u="none" strike="noStrike" kern="1200" cap="none" spc="0" normalizeH="0" baseline="0" noProof="0" dirty="0">
                  <a:ln>
                    <a:noFill/>
                  </a:ln>
                  <a:solidFill>
                    <a:srgbClr val="2B2B2B"/>
                  </a:solidFill>
                  <a:effectLst/>
                  <a:uLnTx/>
                  <a:uFillTx/>
                  <a:latin typeface="Agrandir"/>
                  <a:ea typeface="+mn-ea"/>
                  <a:cs typeface="+mn-cs"/>
                </a:rPr>
                <a:t>Conclusion</a:t>
              </a:r>
            </a:p>
          </p:txBody>
        </p:sp>
      </p:grpSp>
      <p:sp>
        <p:nvSpPr>
          <p:cNvPr id="8" name="TextBox 5">
            <a:extLst>
              <a:ext uri="{FF2B5EF4-FFF2-40B4-BE49-F238E27FC236}">
                <a16:creationId xmlns:a16="http://schemas.microsoft.com/office/drawing/2014/main" id="{2D6FC56E-4795-1852-9A91-C9FA7AB52B97}"/>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extLst>
      <p:ext uri="{BB962C8B-B14F-4D97-AF65-F5344CB8AC3E}">
        <p14:creationId xmlns:p14="http://schemas.microsoft.com/office/powerpoint/2010/main" val="2228782532"/>
      </p:ext>
    </p:extLst>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39239806-5781-61C6-8AB8-487F061ED6CF}"/>
              </a:ext>
            </a:extLst>
          </p:cNvPr>
          <p:cNvGrpSpPr/>
          <p:nvPr/>
        </p:nvGrpSpPr>
        <p:grpSpPr>
          <a:xfrm>
            <a:off x="-3168000" y="-7448087"/>
            <a:ext cx="25647000" cy="19906787"/>
            <a:chOff x="-3733800" y="-7219487"/>
            <a:chExt cx="25647000" cy="19906787"/>
          </a:xfrm>
        </p:grpSpPr>
        <p:sp>
          <p:nvSpPr>
            <p:cNvPr id="24" name="Freeform 6">
              <a:extLst>
                <a:ext uri="{FF2B5EF4-FFF2-40B4-BE49-F238E27FC236}">
                  <a16:creationId xmlns:a16="http://schemas.microsoft.com/office/drawing/2014/main" id="{53178758-B4BB-0CBC-28D1-28818FCED86D}"/>
                </a:ext>
              </a:extLst>
            </p:cNvPr>
            <p:cNvSpPr/>
            <p:nvPr/>
          </p:nvSpPr>
          <p:spPr>
            <a:xfrm>
              <a:off x="-3733800" y="5829300"/>
              <a:ext cx="7687172" cy="6858000"/>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3">
              <a:extLst>
                <a:ext uri="{FF2B5EF4-FFF2-40B4-BE49-F238E27FC236}">
                  <a16:creationId xmlns:a16="http://schemas.microsoft.com/office/drawing/2014/main" id="{DC56BC11-DCC9-3DFA-3DBF-A7CDC01F727F}"/>
                </a:ext>
              </a:extLst>
            </p:cNvPr>
            <p:cNvSpPr/>
            <p:nvPr/>
          </p:nvSpPr>
          <p:spPr>
            <a:xfrm>
              <a:off x="8121000" y="-7219487"/>
              <a:ext cx="13792200" cy="12571478"/>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sp>
        <p:nvSpPr>
          <p:cNvPr id="2" name="AutoShape 2"/>
          <p:cNvSpPr/>
          <p:nvPr/>
        </p:nvSpPr>
        <p:spPr>
          <a:xfrm rot="5399999">
            <a:off x="7508765" y="5109156"/>
            <a:ext cx="4242437" cy="10886"/>
          </a:xfrm>
          <a:prstGeom prst="line">
            <a:avLst/>
          </a:prstGeom>
          <a:ln w="9525" cap="flat">
            <a:solidFill>
              <a:srgbClr val="2B2B2B"/>
            </a:solidFill>
            <a:prstDash val="solid"/>
            <a:headEnd type="none" w="sm" len="sm"/>
            <a:tailEnd type="none" w="sm" len="sm"/>
          </a:ln>
        </p:spPr>
      </p:sp>
      <p:sp>
        <p:nvSpPr>
          <p:cNvPr id="3" name="TextBox 3"/>
          <p:cNvSpPr txBox="1"/>
          <p:nvPr/>
        </p:nvSpPr>
        <p:spPr>
          <a:xfrm>
            <a:off x="1845129" y="3895725"/>
            <a:ext cx="5956776" cy="1049005"/>
          </a:xfrm>
          <a:prstGeom prst="rect">
            <a:avLst/>
          </a:prstGeom>
        </p:spPr>
        <p:txBody>
          <a:bodyPr lIns="0" tIns="0" rIns="0" bIns="0" rtlCol="0" anchor="t">
            <a:spAutoFit/>
          </a:bodyPr>
          <a:lstStyle/>
          <a:p>
            <a:pPr marL="0" lvl="0" indent="0" algn="ctr">
              <a:lnSpc>
                <a:spcPts val="8399"/>
              </a:lnSpc>
              <a:spcBef>
                <a:spcPct val="0"/>
              </a:spcBef>
            </a:pPr>
            <a:r>
              <a:rPr lang="en-US" sz="6999" u="none" dirty="0">
                <a:solidFill>
                  <a:srgbClr val="2B2B2B"/>
                </a:solidFill>
                <a:latin typeface="Agrandir"/>
              </a:rPr>
              <a:t>Future work </a:t>
            </a:r>
          </a:p>
        </p:txBody>
      </p:sp>
      <p:grpSp>
        <p:nvGrpSpPr>
          <p:cNvPr id="8" name="Group 8"/>
          <p:cNvGrpSpPr/>
          <p:nvPr/>
        </p:nvGrpSpPr>
        <p:grpSpPr>
          <a:xfrm>
            <a:off x="10875578" y="2884330"/>
            <a:ext cx="5600696" cy="2259170"/>
            <a:chOff x="-6077" y="-2995565"/>
            <a:chExt cx="5434789" cy="3012225"/>
          </a:xfrm>
        </p:grpSpPr>
        <p:sp>
          <p:nvSpPr>
            <p:cNvPr id="9" name="TextBox 9"/>
            <p:cNvSpPr txBox="1"/>
            <p:nvPr/>
          </p:nvSpPr>
          <p:spPr>
            <a:xfrm>
              <a:off x="-6077" y="-2995565"/>
              <a:ext cx="5434789" cy="1295568"/>
            </a:xfrm>
            <a:prstGeom prst="rect">
              <a:avLst/>
            </a:prstGeom>
          </p:spPr>
          <p:txBody>
            <a:bodyPr lIns="0" tIns="0" rIns="0" bIns="0" rtlCol="0" anchor="t">
              <a:spAutoFit/>
            </a:bodyPr>
            <a:lstStyle/>
            <a:p>
              <a:pPr marL="0" lvl="0" indent="0">
                <a:lnSpc>
                  <a:spcPts val="3920"/>
                </a:lnSpc>
                <a:spcBef>
                  <a:spcPct val="0"/>
                </a:spcBef>
              </a:pPr>
              <a:r>
                <a:rPr lang="en-US" sz="2800" dirty="0">
                  <a:solidFill>
                    <a:srgbClr val="2B2B2B"/>
                  </a:solidFill>
                  <a:latin typeface="Agrandir"/>
                </a:rPr>
                <a:t>Integrating Mutation Dataset</a:t>
              </a:r>
              <a:endParaRPr lang="en-US" sz="2800" u="none" dirty="0">
                <a:solidFill>
                  <a:srgbClr val="2B2B2B"/>
                </a:solidFill>
                <a:latin typeface="Agrandir"/>
              </a:endParaRPr>
            </a:p>
          </p:txBody>
        </p:sp>
        <p:sp>
          <p:nvSpPr>
            <p:cNvPr id="10" name="TextBox 10"/>
            <p:cNvSpPr txBox="1"/>
            <p:nvPr/>
          </p:nvSpPr>
          <p:spPr>
            <a:xfrm>
              <a:off x="-6077" y="-2072117"/>
              <a:ext cx="5434789" cy="2088777"/>
            </a:xfrm>
            <a:prstGeom prst="rect">
              <a:avLst/>
            </a:prstGeom>
          </p:spPr>
          <p:txBody>
            <a:bodyPr lIns="0" tIns="0" rIns="0" bIns="0" rtlCol="0" anchor="t">
              <a:spAutoFit/>
            </a:bodyPr>
            <a:lstStyle/>
            <a:p>
              <a:pPr marL="0" lvl="0" indent="0" algn="ctr">
                <a:lnSpc>
                  <a:spcPts val="3080"/>
                </a:lnSpc>
              </a:pPr>
              <a:r>
                <a:rPr lang="en-US" sz="2200" u="none" dirty="0">
                  <a:solidFill>
                    <a:srgbClr val="2B2B2B"/>
                  </a:solidFill>
                  <a:latin typeface="Agrandir"/>
                </a:rPr>
                <a:t>Since the mutation dataset includes a distinct marker that makes our data easier to understand, we will add it to the existing dataset. </a:t>
              </a:r>
            </a:p>
          </p:txBody>
        </p:sp>
      </p:grpSp>
      <p:grpSp>
        <p:nvGrpSpPr>
          <p:cNvPr id="11" name="Group 11"/>
          <p:cNvGrpSpPr/>
          <p:nvPr/>
        </p:nvGrpSpPr>
        <p:grpSpPr>
          <a:xfrm>
            <a:off x="10891236" y="5665272"/>
            <a:ext cx="4076092" cy="1570545"/>
            <a:chOff x="0" y="-123825"/>
            <a:chExt cx="5434789" cy="2094059"/>
          </a:xfrm>
        </p:grpSpPr>
        <p:sp>
          <p:nvSpPr>
            <p:cNvPr id="12" name="TextBox 12"/>
            <p:cNvSpPr txBox="1"/>
            <p:nvPr/>
          </p:nvSpPr>
          <p:spPr>
            <a:xfrm>
              <a:off x="0" y="-123825"/>
              <a:ext cx="5434789" cy="628719"/>
            </a:xfrm>
            <a:prstGeom prst="rect">
              <a:avLst/>
            </a:prstGeom>
          </p:spPr>
          <p:txBody>
            <a:bodyPr lIns="0" tIns="0" rIns="0" bIns="0" rtlCol="0" anchor="t">
              <a:spAutoFit/>
            </a:bodyPr>
            <a:lstStyle/>
            <a:p>
              <a:pPr marL="0" lvl="0" indent="0">
                <a:lnSpc>
                  <a:spcPts val="3920"/>
                </a:lnSpc>
                <a:spcBef>
                  <a:spcPct val="0"/>
                </a:spcBef>
              </a:pPr>
              <a:r>
                <a:rPr lang="en-US" sz="2800" u="none" dirty="0">
                  <a:solidFill>
                    <a:srgbClr val="2B2B2B"/>
                  </a:solidFill>
                  <a:latin typeface="Agrandir"/>
                </a:rPr>
                <a:t>Creating Network</a:t>
              </a:r>
            </a:p>
          </p:txBody>
        </p:sp>
        <p:sp>
          <p:nvSpPr>
            <p:cNvPr id="13" name="TextBox 13"/>
            <p:cNvSpPr txBox="1"/>
            <p:nvPr/>
          </p:nvSpPr>
          <p:spPr>
            <a:xfrm>
              <a:off x="0" y="941577"/>
              <a:ext cx="5434789" cy="1028657"/>
            </a:xfrm>
            <a:prstGeom prst="rect">
              <a:avLst/>
            </a:prstGeom>
          </p:spPr>
          <p:txBody>
            <a:bodyPr lIns="0" tIns="0" rIns="0" bIns="0" rtlCol="0" anchor="t">
              <a:spAutoFit/>
            </a:bodyPr>
            <a:lstStyle/>
            <a:p>
              <a:pPr marL="0" lvl="0" indent="0" algn="ctr">
                <a:lnSpc>
                  <a:spcPts val="3080"/>
                </a:lnSpc>
              </a:pPr>
              <a:r>
                <a:rPr lang="en-US" sz="2200" u="none" dirty="0">
                  <a:solidFill>
                    <a:srgbClr val="2B2B2B"/>
                  </a:solidFill>
                  <a:latin typeface="Agrandir"/>
                </a:rPr>
                <a:t>For every </a:t>
              </a:r>
              <a:r>
                <a:rPr lang="en-US" sz="2200" u="none" dirty="0" err="1">
                  <a:solidFill>
                    <a:srgbClr val="2B2B2B"/>
                  </a:solidFill>
                  <a:latin typeface="Agrandir"/>
                </a:rPr>
                <a:t>omic</a:t>
              </a:r>
              <a:r>
                <a:rPr lang="en-US" sz="2200" u="none" dirty="0">
                  <a:solidFill>
                    <a:srgbClr val="2B2B2B"/>
                  </a:solidFill>
                  <a:latin typeface="Agrandir"/>
                </a:rPr>
                <a:t> data that we use, a network will be created.</a:t>
              </a:r>
            </a:p>
          </p:txBody>
        </p:sp>
      </p:grpSp>
      <p:sp>
        <p:nvSpPr>
          <p:cNvPr id="17" name="Freeform 17"/>
          <p:cNvSpPr/>
          <p:nvPr/>
        </p:nvSpPr>
        <p:spPr>
          <a:xfrm>
            <a:off x="9372680" y="2779327"/>
            <a:ext cx="535018" cy="428106"/>
          </a:xfrm>
          <a:custGeom>
            <a:avLst/>
            <a:gdLst/>
            <a:ahLst/>
            <a:cxnLst/>
            <a:rect l="l" t="t" r="r" b="b"/>
            <a:pathLst>
              <a:path w="535018" h="428106">
                <a:moveTo>
                  <a:pt x="0" y="0"/>
                </a:moveTo>
                <a:lnTo>
                  <a:pt x="535018" y="0"/>
                </a:lnTo>
                <a:lnTo>
                  <a:pt x="535018" y="428106"/>
                </a:lnTo>
                <a:lnTo>
                  <a:pt x="0" y="428106"/>
                </a:lnTo>
                <a:lnTo>
                  <a:pt x="0" y="0"/>
                </a:lnTo>
                <a:close/>
              </a:path>
            </a:pathLst>
          </a:custGeom>
          <a:blipFill>
            <a:blip r:embed="rId6">
              <a:extLst>
                <a:ext uri="{96DAC541-7B7A-43D3-8B79-37D633B846F1}">
                  <asvg:svgBlip xmlns:asvg="http://schemas.microsoft.com/office/drawing/2016/SVG/main" r:embed="rId7"/>
                </a:ext>
              </a:extLst>
            </a:blip>
            <a:stretch>
              <a:fillRect l="-83" r="-83"/>
            </a:stretch>
          </a:blipFill>
        </p:spPr>
      </p:sp>
      <p:sp>
        <p:nvSpPr>
          <p:cNvPr id="18" name="Freeform 18"/>
          <p:cNvSpPr/>
          <p:nvPr/>
        </p:nvSpPr>
        <p:spPr>
          <a:xfrm>
            <a:off x="9382075" y="5380470"/>
            <a:ext cx="535018" cy="428106"/>
          </a:xfrm>
          <a:custGeom>
            <a:avLst/>
            <a:gdLst/>
            <a:ahLst/>
            <a:cxnLst/>
            <a:rect l="l" t="t" r="r" b="b"/>
            <a:pathLst>
              <a:path w="535018" h="428106">
                <a:moveTo>
                  <a:pt x="0" y="0"/>
                </a:moveTo>
                <a:lnTo>
                  <a:pt x="535018" y="0"/>
                </a:lnTo>
                <a:lnTo>
                  <a:pt x="535018" y="428106"/>
                </a:lnTo>
                <a:lnTo>
                  <a:pt x="0" y="428106"/>
                </a:lnTo>
                <a:lnTo>
                  <a:pt x="0" y="0"/>
                </a:lnTo>
                <a:close/>
              </a:path>
            </a:pathLst>
          </a:custGeom>
          <a:blipFill>
            <a:blip r:embed="rId8">
              <a:extLst>
                <a:ext uri="{96DAC541-7B7A-43D3-8B79-37D633B846F1}">
                  <asvg:svgBlip xmlns:asvg="http://schemas.microsoft.com/office/drawing/2016/SVG/main" r:embed="rId9"/>
                </a:ext>
              </a:extLst>
            </a:blip>
            <a:stretch>
              <a:fillRect l="-83" r="-83"/>
            </a:stretch>
          </a:blipFill>
        </p:spPr>
      </p:sp>
      <p:sp>
        <p:nvSpPr>
          <p:cNvPr id="26" name="TextBox 5">
            <a:extLst>
              <a:ext uri="{FF2B5EF4-FFF2-40B4-BE49-F238E27FC236}">
                <a16:creationId xmlns:a16="http://schemas.microsoft.com/office/drawing/2014/main" id="{F08AC171-D21B-F595-A073-07A45EFD1594}"/>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101094E-8191-F802-4DD1-A7C31EF396E2}"/>
              </a:ext>
            </a:extLst>
          </p:cNvPr>
          <p:cNvGrpSpPr/>
          <p:nvPr/>
        </p:nvGrpSpPr>
        <p:grpSpPr>
          <a:xfrm>
            <a:off x="-4592411" y="-2584020"/>
            <a:ext cx="24570231" cy="15444838"/>
            <a:chOff x="-4592411" y="-2584020"/>
            <a:chExt cx="24570231" cy="15444838"/>
          </a:xfrm>
        </p:grpSpPr>
        <p:sp>
          <p:nvSpPr>
            <p:cNvPr id="10" name="Freeform 6">
              <a:extLst>
                <a:ext uri="{FF2B5EF4-FFF2-40B4-BE49-F238E27FC236}">
                  <a16:creationId xmlns:a16="http://schemas.microsoft.com/office/drawing/2014/main" id="{2A2A6AC8-5227-275E-0CE8-8A17DF9756A3}"/>
                </a:ext>
              </a:extLst>
            </p:cNvPr>
            <p:cNvSpPr/>
            <p:nvPr/>
          </p:nvSpPr>
          <p:spPr>
            <a:xfrm rot="20335330">
              <a:off x="7037851" y="2904459"/>
              <a:ext cx="12939969" cy="9956359"/>
            </a:xfrm>
            <a:custGeom>
              <a:avLst/>
              <a:gdLst/>
              <a:ahLst/>
              <a:cxnLst/>
              <a:rect l="l" t="t" r="r" b="b"/>
              <a:pathLst>
                <a:path w="2565623" h="2397692">
                  <a:moveTo>
                    <a:pt x="0" y="0"/>
                  </a:moveTo>
                  <a:lnTo>
                    <a:pt x="2565623" y="0"/>
                  </a:lnTo>
                  <a:lnTo>
                    <a:pt x="2565623" y="2397692"/>
                  </a:lnTo>
                  <a:lnTo>
                    <a:pt x="0" y="2397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2">
              <a:extLst>
                <a:ext uri="{FF2B5EF4-FFF2-40B4-BE49-F238E27FC236}">
                  <a16:creationId xmlns:a16="http://schemas.microsoft.com/office/drawing/2014/main" id="{36D9CCC9-74F0-87A0-4E7D-88F7D8118D66}"/>
                </a:ext>
              </a:extLst>
            </p:cNvPr>
            <p:cNvSpPr/>
            <p:nvPr/>
          </p:nvSpPr>
          <p:spPr>
            <a:xfrm rot="20561123">
              <a:off x="-4592411" y="-2584020"/>
              <a:ext cx="12396335" cy="6954809"/>
            </a:xfrm>
            <a:custGeom>
              <a:avLst/>
              <a:gdLst/>
              <a:ahLst/>
              <a:cxnLst/>
              <a:rect l="l" t="t" r="r" b="b"/>
              <a:pathLst>
                <a:path w="2396892" h="2468709">
                  <a:moveTo>
                    <a:pt x="0" y="0"/>
                  </a:moveTo>
                  <a:lnTo>
                    <a:pt x="2396892" y="0"/>
                  </a:lnTo>
                  <a:lnTo>
                    <a:pt x="2396892" y="2468709"/>
                  </a:lnTo>
                  <a:lnTo>
                    <a:pt x="0" y="2468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pSp>
      <p:sp>
        <p:nvSpPr>
          <p:cNvPr id="12" name="TextBox 5">
            <a:extLst>
              <a:ext uri="{FF2B5EF4-FFF2-40B4-BE49-F238E27FC236}">
                <a16:creationId xmlns:a16="http://schemas.microsoft.com/office/drawing/2014/main" id="{4F2C6920-B355-82AB-E8CE-F8D120A5D20F}"/>
              </a:ext>
            </a:extLst>
          </p:cNvPr>
          <p:cNvSpPr txBox="1"/>
          <p:nvPr/>
        </p:nvSpPr>
        <p:spPr>
          <a:xfrm>
            <a:off x="76200" y="9511331"/>
            <a:ext cx="4695409" cy="507447"/>
          </a:xfrm>
          <a:prstGeom prst="rect">
            <a:avLst/>
          </a:prstGeom>
        </p:spPr>
        <p:txBody>
          <a:bodyPr wrap="square" lIns="0" tIns="0" rIns="0" bIns="0" rtlCol="0" anchor="t">
            <a:spAutoFit/>
          </a:bodyPr>
          <a:lstStyle/>
          <a:p>
            <a:pPr marL="0" marR="0" lvl="0" indent="0" algn="ctr" defTabSz="914400" rtl="0" eaLnBrk="1" fontAlgn="auto" latinLnBrk="0" hangingPunct="1">
              <a:lnSpc>
                <a:spcPts val="4376"/>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latsi Bold"/>
                <a:ea typeface="+mn-ea"/>
                <a:cs typeface="+mn-cs"/>
              </a:rPr>
              <a:t>FCI – Assiut University | 2024</a:t>
            </a:r>
          </a:p>
        </p:txBody>
      </p:sp>
      <p:grpSp>
        <p:nvGrpSpPr>
          <p:cNvPr id="16" name="Group 15">
            <a:extLst>
              <a:ext uri="{FF2B5EF4-FFF2-40B4-BE49-F238E27FC236}">
                <a16:creationId xmlns:a16="http://schemas.microsoft.com/office/drawing/2014/main" id="{2759C569-0923-F36F-82B1-E9159324627F}"/>
              </a:ext>
            </a:extLst>
          </p:cNvPr>
          <p:cNvGrpSpPr/>
          <p:nvPr/>
        </p:nvGrpSpPr>
        <p:grpSpPr>
          <a:xfrm>
            <a:off x="3782504" y="3694695"/>
            <a:ext cx="10722992" cy="4726408"/>
            <a:chOff x="4911263" y="4076303"/>
            <a:chExt cx="8632434" cy="4726408"/>
          </a:xfrm>
        </p:grpSpPr>
        <p:sp>
          <p:nvSpPr>
            <p:cNvPr id="13" name="TextBox 5">
              <a:extLst>
                <a:ext uri="{FF2B5EF4-FFF2-40B4-BE49-F238E27FC236}">
                  <a16:creationId xmlns:a16="http://schemas.microsoft.com/office/drawing/2014/main" id="{DD5E8DF6-DF27-827A-9378-7B1359CCE7B0}"/>
                </a:ext>
              </a:extLst>
            </p:cNvPr>
            <p:cNvSpPr txBox="1"/>
            <p:nvPr/>
          </p:nvSpPr>
          <p:spPr>
            <a:xfrm>
              <a:off x="5388576" y="6520227"/>
              <a:ext cx="3927938" cy="2282484"/>
            </a:xfrm>
            <a:prstGeom prst="rect">
              <a:avLst/>
            </a:prstGeom>
          </p:spPr>
          <p:txBody>
            <a:bodyPr wrap="square" lIns="0" tIns="0" rIns="0" bIns="0" rtlCol="0" anchor="t">
              <a:spAutoFit/>
            </a:bodyPr>
            <a:lstStyle/>
            <a:p>
              <a:pPr marL="0" lvl="0" indent="0" algn="ctr">
                <a:lnSpc>
                  <a:spcPts val="3640"/>
                </a:lnSpc>
              </a:pPr>
              <a:r>
                <a:rPr lang="en-US" sz="2600" u="none" dirty="0" err="1">
                  <a:solidFill>
                    <a:srgbClr val="2B2B2B"/>
                  </a:solidFill>
                  <a:latin typeface="Agrandir"/>
                </a:rPr>
                <a:t>Abdal</a:t>
              </a:r>
              <a:r>
                <a:rPr lang="en-US" sz="2600" u="none" dirty="0">
                  <a:solidFill>
                    <a:srgbClr val="2B2B2B"/>
                  </a:solidFill>
                  <a:latin typeface="Agrandir"/>
                </a:rPr>
                <a:t>-Aziz Al-Sayed Mohamed</a:t>
              </a:r>
            </a:p>
            <a:p>
              <a:pPr marL="0" lvl="0" indent="0" algn="ctr">
                <a:lnSpc>
                  <a:spcPts val="3640"/>
                </a:lnSpc>
              </a:pPr>
              <a:endParaRPr lang="en-US" sz="2600" u="none" dirty="0">
                <a:solidFill>
                  <a:srgbClr val="2B2B2B"/>
                </a:solidFill>
                <a:latin typeface="Agrandir"/>
              </a:endParaRPr>
            </a:p>
            <a:p>
              <a:pPr marL="0" lvl="0" indent="0" algn="ctr">
                <a:lnSpc>
                  <a:spcPts val="3640"/>
                </a:lnSpc>
              </a:pPr>
              <a:r>
                <a:rPr lang="en-US" sz="2600" u="none" dirty="0">
                  <a:solidFill>
                    <a:srgbClr val="2B2B2B"/>
                  </a:solidFill>
                  <a:latin typeface="Agrandir"/>
                </a:rPr>
                <a:t>Mohamed Hossam </a:t>
              </a:r>
              <a:r>
                <a:rPr lang="en-US" sz="2600" u="none" dirty="0" err="1">
                  <a:solidFill>
                    <a:srgbClr val="2B2B2B"/>
                  </a:solidFill>
                  <a:latin typeface="Agrandir"/>
                </a:rPr>
                <a:t>Gafaar</a:t>
              </a:r>
              <a:endParaRPr lang="en-US" sz="2600" u="none" dirty="0">
                <a:solidFill>
                  <a:srgbClr val="2B2B2B"/>
                </a:solidFill>
                <a:latin typeface="Agrandir"/>
              </a:endParaRPr>
            </a:p>
            <a:p>
              <a:pPr marL="0" lvl="0" indent="0" algn="ctr">
                <a:lnSpc>
                  <a:spcPts val="3640"/>
                </a:lnSpc>
              </a:pPr>
              <a:endParaRPr lang="en-US" sz="2600" u="none" dirty="0">
                <a:solidFill>
                  <a:srgbClr val="2B2B2B"/>
                </a:solidFill>
                <a:latin typeface="Agrandir"/>
              </a:endParaRPr>
            </a:p>
            <a:p>
              <a:pPr marL="0" lvl="0" indent="0" algn="ctr">
                <a:lnSpc>
                  <a:spcPts val="3640"/>
                </a:lnSpc>
              </a:pPr>
              <a:r>
                <a:rPr lang="en-US" sz="2600" u="none" dirty="0" err="1">
                  <a:solidFill>
                    <a:srgbClr val="2B2B2B"/>
                  </a:solidFill>
                  <a:latin typeface="Agrandir"/>
                </a:rPr>
                <a:t>Eman</a:t>
              </a:r>
              <a:r>
                <a:rPr lang="en-US" sz="2600" u="none" dirty="0">
                  <a:solidFill>
                    <a:srgbClr val="2B2B2B"/>
                  </a:solidFill>
                  <a:latin typeface="Agrandir"/>
                </a:rPr>
                <a:t> Usama Hosni</a:t>
              </a:r>
            </a:p>
          </p:txBody>
        </p:sp>
        <p:grpSp>
          <p:nvGrpSpPr>
            <p:cNvPr id="15" name="Group 14">
              <a:extLst>
                <a:ext uri="{FF2B5EF4-FFF2-40B4-BE49-F238E27FC236}">
                  <a16:creationId xmlns:a16="http://schemas.microsoft.com/office/drawing/2014/main" id="{D2F160D4-F942-C954-1FD9-EFB5F5FCB2F6}"/>
                </a:ext>
              </a:extLst>
            </p:cNvPr>
            <p:cNvGrpSpPr/>
            <p:nvPr/>
          </p:nvGrpSpPr>
          <p:grpSpPr>
            <a:xfrm>
              <a:off x="4911263" y="4076303"/>
              <a:ext cx="8632434" cy="4726408"/>
              <a:chOff x="4911263" y="4076303"/>
              <a:chExt cx="8632434" cy="4726408"/>
            </a:xfrm>
          </p:grpSpPr>
          <p:grpSp>
            <p:nvGrpSpPr>
              <p:cNvPr id="3" name="Group 3"/>
              <p:cNvGrpSpPr/>
              <p:nvPr/>
            </p:nvGrpSpPr>
            <p:grpSpPr>
              <a:xfrm>
                <a:off x="4911263" y="4076303"/>
                <a:ext cx="8465475" cy="1943315"/>
                <a:chOff x="0" y="-190500"/>
                <a:chExt cx="11287299" cy="2591087"/>
              </a:xfrm>
            </p:grpSpPr>
            <p:sp>
              <p:nvSpPr>
                <p:cNvPr id="4" name="TextBox 4"/>
                <p:cNvSpPr txBox="1"/>
                <p:nvPr/>
              </p:nvSpPr>
              <p:spPr>
                <a:xfrm>
                  <a:off x="0" y="-190500"/>
                  <a:ext cx="11287299" cy="1600200"/>
                </a:xfrm>
                <a:prstGeom prst="rect">
                  <a:avLst/>
                </a:prstGeom>
              </p:spPr>
              <p:txBody>
                <a:bodyPr lIns="0" tIns="0" rIns="0" bIns="0" rtlCol="0" anchor="t">
                  <a:spAutoFit/>
                </a:bodyPr>
                <a:lstStyle/>
                <a:p>
                  <a:pPr marL="0" lvl="0" indent="0" algn="ctr">
                    <a:lnSpc>
                      <a:spcPts val="8399"/>
                    </a:lnSpc>
                    <a:spcBef>
                      <a:spcPct val="0"/>
                    </a:spcBef>
                  </a:pPr>
                  <a:r>
                    <a:rPr lang="en-US" sz="6999" u="none">
                      <a:solidFill>
                        <a:srgbClr val="2B2B2B"/>
                      </a:solidFill>
                      <a:latin typeface="Agrandir"/>
                    </a:rPr>
                    <a:t>Thank you!</a:t>
                  </a:r>
                </a:p>
              </p:txBody>
            </p:sp>
            <p:sp>
              <p:nvSpPr>
                <p:cNvPr id="5" name="TextBox 5"/>
                <p:cNvSpPr txBox="1"/>
                <p:nvPr/>
              </p:nvSpPr>
              <p:spPr>
                <a:xfrm>
                  <a:off x="0" y="1819487"/>
                  <a:ext cx="11287299" cy="581100"/>
                </a:xfrm>
                <a:prstGeom prst="rect">
                  <a:avLst/>
                </a:prstGeom>
              </p:spPr>
              <p:txBody>
                <a:bodyPr lIns="0" tIns="0" rIns="0" bIns="0" rtlCol="0" anchor="t">
                  <a:spAutoFit/>
                </a:bodyPr>
                <a:lstStyle/>
                <a:p>
                  <a:pPr marL="0" lvl="0" indent="0" algn="ctr">
                    <a:lnSpc>
                      <a:spcPts val="3640"/>
                    </a:lnSpc>
                  </a:pPr>
                  <a:r>
                    <a:rPr lang="en-US" sz="2600" u="none" dirty="0">
                      <a:solidFill>
                        <a:srgbClr val="2B2B2B"/>
                      </a:solidFill>
                      <a:latin typeface="Agrandir"/>
                    </a:rPr>
                    <a:t>Presented By:</a:t>
                  </a:r>
                </a:p>
              </p:txBody>
            </p:sp>
          </p:grpSp>
          <p:sp>
            <p:nvSpPr>
              <p:cNvPr id="14" name="TextBox 5">
                <a:extLst>
                  <a:ext uri="{FF2B5EF4-FFF2-40B4-BE49-F238E27FC236}">
                    <a16:creationId xmlns:a16="http://schemas.microsoft.com/office/drawing/2014/main" id="{1DD9A0FE-7DB6-29CF-E127-8DBDD0E5C8EB}"/>
                  </a:ext>
                </a:extLst>
              </p:cNvPr>
              <p:cNvSpPr txBox="1"/>
              <p:nvPr/>
            </p:nvSpPr>
            <p:spPr>
              <a:xfrm>
                <a:off x="9615759" y="6520227"/>
                <a:ext cx="3927938" cy="2282484"/>
              </a:xfrm>
              <a:prstGeom prst="rect">
                <a:avLst/>
              </a:prstGeom>
            </p:spPr>
            <p:txBody>
              <a:bodyPr wrap="square" lIns="0" tIns="0" rIns="0" bIns="0" rtlCol="0" anchor="t">
                <a:spAutoFit/>
              </a:bodyPr>
              <a:lstStyle/>
              <a:p>
                <a:pPr marL="0" lvl="0" indent="0" algn="ctr">
                  <a:lnSpc>
                    <a:spcPts val="3640"/>
                  </a:lnSpc>
                </a:pPr>
                <a:r>
                  <a:rPr lang="es-ES" sz="2600" u="none" dirty="0" err="1">
                    <a:solidFill>
                      <a:srgbClr val="2B2B2B"/>
                    </a:solidFill>
                    <a:latin typeface="Agrandir"/>
                  </a:rPr>
                  <a:t>Ezz</a:t>
                </a:r>
                <a:r>
                  <a:rPr lang="es-ES" sz="2600" u="none" dirty="0">
                    <a:solidFill>
                      <a:srgbClr val="2B2B2B"/>
                    </a:solidFill>
                    <a:latin typeface="Agrandir"/>
                  </a:rPr>
                  <a:t> El-Deen </a:t>
                </a:r>
                <a:r>
                  <a:rPr lang="es-ES" sz="2600" u="none" dirty="0" err="1">
                    <a:solidFill>
                      <a:srgbClr val="2B2B2B"/>
                    </a:solidFill>
                    <a:latin typeface="Agrandir"/>
                  </a:rPr>
                  <a:t>Amer</a:t>
                </a:r>
                <a:r>
                  <a:rPr lang="es-ES" sz="2600" u="none" dirty="0">
                    <a:solidFill>
                      <a:srgbClr val="2B2B2B"/>
                    </a:solidFill>
                    <a:latin typeface="Agrandir"/>
                  </a:rPr>
                  <a:t> Ali</a:t>
                </a:r>
              </a:p>
              <a:p>
                <a:pPr marL="0" lvl="0" indent="0" algn="ctr">
                  <a:lnSpc>
                    <a:spcPts val="3640"/>
                  </a:lnSpc>
                </a:pPr>
                <a:endParaRPr lang="es-ES" sz="2600" u="none" dirty="0">
                  <a:solidFill>
                    <a:srgbClr val="2B2B2B"/>
                  </a:solidFill>
                  <a:latin typeface="Agrandir"/>
                </a:endParaRPr>
              </a:p>
              <a:p>
                <a:pPr marL="0" lvl="0" indent="0" algn="ctr">
                  <a:lnSpc>
                    <a:spcPts val="3640"/>
                  </a:lnSpc>
                </a:pPr>
                <a:r>
                  <a:rPr lang="es-ES" sz="2600" u="none" dirty="0" err="1">
                    <a:solidFill>
                      <a:srgbClr val="2B2B2B"/>
                    </a:solidFill>
                    <a:latin typeface="Agrandir"/>
                  </a:rPr>
                  <a:t>Sohila</a:t>
                </a:r>
                <a:r>
                  <a:rPr lang="es-ES" sz="2600" u="none" dirty="0">
                    <a:solidFill>
                      <a:srgbClr val="2B2B2B"/>
                    </a:solidFill>
                    <a:latin typeface="Agrandir"/>
                  </a:rPr>
                  <a:t> </a:t>
                </a:r>
                <a:r>
                  <a:rPr lang="es-ES" sz="2600" u="none" dirty="0" err="1">
                    <a:solidFill>
                      <a:srgbClr val="2B2B2B"/>
                    </a:solidFill>
                    <a:latin typeface="Agrandir"/>
                  </a:rPr>
                  <a:t>Noaman</a:t>
                </a:r>
                <a:r>
                  <a:rPr lang="es-ES" sz="2600" u="none" dirty="0">
                    <a:solidFill>
                      <a:srgbClr val="2B2B2B"/>
                    </a:solidFill>
                    <a:latin typeface="Agrandir"/>
                  </a:rPr>
                  <a:t> </a:t>
                </a:r>
                <a:r>
                  <a:rPr lang="es-ES" sz="2600" u="none" dirty="0" err="1">
                    <a:solidFill>
                      <a:srgbClr val="2B2B2B"/>
                    </a:solidFill>
                    <a:latin typeface="Agrandir"/>
                  </a:rPr>
                  <a:t>Mahmoud</a:t>
                </a:r>
                <a:endParaRPr lang="es-ES" sz="2600" u="none" dirty="0">
                  <a:solidFill>
                    <a:srgbClr val="2B2B2B"/>
                  </a:solidFill>
                  <a:latin typeface="Agrandir"/>
                </a:endParaRPr>
              </a:p>
              <a:p>
                <a:pPr marL="0" lvl="0" indent="0" algn="ctr">
                  <a:lnSpc>
                    <a:spcPts val="3640"/>
                  </a:lnSpc>
                </a:pPr>
                <a:endParaRPr lang="es-ES" sz="2600" u="none" dirty="0">
                  <a:solidFill>
                    <a:srgbClr val="2B2B2B"/>
                  </a:solidFill>
                  <a:latin typeface="Agrandir"/>
                </a:endParaRPr>
              </a:p>
              <a:p>
                <a:pPr marL="0" lvl="0" indent="0" algn="ctr">
                  <a:lnSpc>
                    <a:spcPts val="3640"/>
                  </a:lnSpc>
                </a:pPr>
                <a:r>
                  <a:rPr lang="es-ES" sz="2600" u="none" dirty="0">
                    <a:solidFill>
                      <a:srgbClr val="2B2B2B"/>
                    </a:solidFill>
                    <a:latin typeface="Agrandir"/>
                  </a:rPr>
                  <a:t>Nader </a:t>
                </a:r>
                <a:r>
                  <a:rPr lang="es-ES" sz="2600" u="none" dirty="0" err="1">
                    <a:solidFill>
                      <a:srgbClr val="2B2B2B"/>
                    </a:solidFill>
                    <a:latin typeface="Agrandir"/>
                  </a:rPr>
                  <a:t>Nagah</a:t>
                </a:r>
                <a:r>
                  <a:rPr lang="es-ES" sz="2600" u="none" dirty="0">
                    <a:solidFill>
                      <a:srgbClr val="2B2B2B"/>
                    </a:solidFill>
                    <a:latin typeface="Agrandir"/>
                  </a:rPr>
                  <a:t> Mohamed</a:t>
                </a:r>
              </a:p>
            </p:txBody>
          </p:sp>
        </p:grpSp>
      </p:gr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1570</TotalTime>
  <Words>1871</Words>
  <Application>Microsoft Office PowerPoint</Application>
  <PresentationFormat>Custom</PresentationFormat>
  <Paragraphs>210</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Agrandir</vt:lpstr>
      <vt:lpstr>Alatsi Bold</vt:lpstr>
      <vt:lpstr>Alatsi</vt:lpstr>
      <vt:lpstr>Calibri</vt:lpstr>
      <vt:lpstr>Agrandir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Abdel  Azeez Alsaed</cp:lastModifiedBy>
  <cp:revision>60</cp:revision>
  <dcterms:created xsi:type="dcterms:W3CDTF">2006-08-16T00:00:00Z</dcterms:created>
  <dcterms:modified xsi:type="dcterms:W3CDTF">2024-02-11T18:29:14Z</dcterms:modified>
  <dc:identifier>DAF8NYVwVnM</dc:identifier>
</cp:coreProperties>
</file>